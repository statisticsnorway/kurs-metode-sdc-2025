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sldIdLst>
    <p:sldId id="256" r:id="rId5"/>
    <p:sldId id="294" r:id="rId6"/>
    <p:sldId id="295" r:id="rId7"/>
    <p:sldId id="262" r:id="rId8"/>
    <p:sldId id="283" r:id="rId9"/>
    <p:sldId id="267" r:id="rId10"/>
    <p:sldId id="265" r:id="rId11"/>
    <p:sldId id="284" r:id="rId12"/>
    <p:sldId id="272" r:id="rId13"/>
    <p:sldId id="274" r:id="rId14"/>
    <p:sldId id="276" r:id="rId15"/>
    <p:sldId id="271" r:id="rId16"/>
    <p:sldId id="273" r:id="rId17"/>
    <p:sldId id="268" r:id="rId18"/>
    <p:sldId id="287" r:id="rId19"/>
    <p:sldId id="289" r:id="rId20"/>
    <p:sldId id="290" r:id="rId21"/>
    <p:sldId id="286" r:id="rId22"/>
    <p:sldId id="291" r:id="rId23"/>
    <p:sldId id="269" r:id="rId24"/>
  </p:sldIdLst>
  <p:sldSz cx="12192000" cy="6858000"/>
  <p:notesSz cx="6858000" cy="9144000"/>
  <p:embeddedFontLst>
    <p:embeddedFont>
      <p:font typeface="Lucida Console" panose="020B0609040504020204" pitchFamily="49" charset="0"/>
      <p:regular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Roboto Condensed" panose="02000000000000000000" pitchFamily="2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6D2"/>
    <a:srgbClr val="1A9D49"/>
    <a:srgbClr val="5B7F82"/>
    <a:srgbClr val="2742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73" autoAdjust="0"/>
    <p:restoredTop sz="94629" autoAdjust="0"/>
  </p:normalViewPr>
  <p:slideViewPr>
    <p:cSldViewPr snapToGrid="0">
      <p:cViewPr>
        <p:scale>
          <a:sx n="111" d="100"/>
          <a:sy n="111" d="100"/>
        </p:scale>
        <p:origin x="1048" y="26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 descr="Et bilde som inneholder skjermbilde&#10;&#10;Beskrivelse som er generert med svært høy visshet">
            <a:extLst>
              <a:ext uri="{FF2B5EF4-FFF2-40B4-BE49-F238E27FC236}">
                <a16:creationId xmlns:a16="http://schemas.microsoft.com/office/drawing/2014/main" id="{47F2A11D-5491-478B-9E74-10A8C407A8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"/>
            <a:ext cx="12192000" cy="6857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0991" y="2722288"/>
            <a:ext cx="9390018" cy="1015791"/>
          </a:xfrm>
          <a:ln>
            <a:noFill/>
          </a:ln>
        </p:spPr>
        <p:txBody>
          <a:bodyPr anchor="b"/>
          <a:lstStyle>
            <a:lvl1pPr algn="ctr">
              <a:lnSpc>
                <a:spcPct val="100000"/>
              </a:lnSpc>
              <a:defRPr lang="nb-NO" sz="6001" b="1" i="0" u="none" strike="noStrike" baseline="0" smtClean="0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nb-N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00991" y="3909549"/>
            <a:ext cx="9390018" cy="401648"/>
          </a:xfrm>
        </p:spPr>
        <p:txBody>
          <a:bodyPr>
            <a:spAutoFit/>
          </a:bodyPr>
          <a:lstStyle>
            <a:lvl1pPr marL="0" indent="0" algn="ctr">
              <a:buNone/>
              <a:defRPr sz="1500" cap="all" spc="75" baseline="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nb-NO" noProof="0" dirty="0"/>
              <a:t>UNDERTITTEL SKAL INN HER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5524F468-AFDE-4FA7-A336-BF521DA62E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1606" cy="188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8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B0DE3-8AB4-4283-AAF7-C599EB450E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19359" y="1862176"/>
            <a:ext cx="9651619" cy="397886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06242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skil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Et bilde som inneholder skjermbilde&#10;&#10;Beskrivelse som er generert med høy visshet">
            <a:extLst>
              <a:ext uri="{FF2B5EF4-FFF2-40B4-BE49-F238E27FC236}">
                <a16:creationId xmlns:a16="http://schemas.microsoft.com/office/drawing/2014/main" id="{82044551-1680-47B1-A9ED-E2CF3CEB21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"/>
            <a:ext cx="12192000" cy="6857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0991" y="2799917"/>
            <a:ext cx="9390018" cy="1015791"/>
          </a:xfrm>
          <a:ln>
            <a:noFill/>
          </a:ln>
        </p:spPr>
        <p:txBody>
          <a:bodyPr anchor="ctr" anchorCtr="0"/>
          <a:lstStyle>
            <a:lvl1pPr algn="ctr">
              <a:lnSpc>
                <a:spcPct val="100000"/>
              </a:lnSpc>
              <a:defRPr lang="nb-NO" sz="6001" b="1" i="0" u="none" strike="noStrike" baseline="0" smtClean="0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5524F468-AFDE-4FA7-A336-BF521DA62E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1606" cy="188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3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innhold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262" y="551048"/>
            <a:ext cx="5520737" cy="14775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31725901-1B6A-4C45-8DFA-5AEEA34F55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9553" y="6349153"/>
            <a:ext cx="7230416" cy="298543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CC6CF-133F-4327-B59A-5E987B55A2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11160" y="633486"/>
            <a:ext cx="5149886" cy="527984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7D4585-68D6-4C8C-9321-1D6936FE09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75264" y="2028632"/>
            <a:ext cx="5520737" cy="3884698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950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tel, innhold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262" y="551048"/>
            <a:ext cx="5520737" cy="14775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1CF5FB5-3D6B-44D1-99CC-F0E11CB949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263" y="2028632"/>
            <a:ext cx="5520737" cy="3884697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6" name="Plassholder for bilde 5">
            <a:extLst>
              <a:ext uri="{FF2B5EF4-FFF2-40B4-BE49-F238E27FC236}">
                <a16:creationId xmlns:a16="http://schemas.microsoft.com/office/drawing/2014/main" id="{70F86513-61E2-4B24-BEA6-A699F2FC0A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60" y="633486"/>
            <a:ext cx="5149886" cy="527984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31725901-1B6A-4C45-8DFA-5AEEA34F55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9553" y="6349153"/>
            <a:ext cx="7230416" cy="323165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</p:spTree>
    <p:extLst>
      <p:ext uri="{BB962C8B-B14F-4D97-AF65-F5344CB8AC3E}">
        <p14:creationId xmlns:p14="http://schemas.microsoft.com/office/powerpoint/2010/main" val="4112122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o valgfrie elemen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262" y="551048"/>
            <a:ext cx="10985784" cy="784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298543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09D97-491E-4B44-B31E-075E94ECFD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154" y="1809960"/>
            <a:ext cx="5149886" cy="4103369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B0EA0-EE56-4BC2-9A97-1C7D7797FA5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11160" y="1809960"/>
            <a:ext cx="5149886" cy="4103369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992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o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262" y="551048"/>
            <a:ext cx="10985784" cy="7849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lassholder for bilde 5">
            <a:extLst>
              <a:ext uri="{FF2B5EF4-FFF2-40B4-BE49-F238E27FC236}">
                <a16:creationId xmlns:a16="http://schemas.microsoft.com/office/drawing/2014/main" id="{70F86513-61E2-4B24-BEA6-A699F2FC0A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60" y="1809959"/>
            <a:ext cx="5149886" cy="410336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Plassholder for bilde 5">
            <a:extLst>
              <a:ext uri="{FF2B5EF4-FFF2-40B4-BE49-F238E27FC236}">
                <a16:creationId xmlns:a16="http://schemas.microsoft.com/office/drawing/2014/main" id="{B9099586-714C-4DE3-816E-CD6982F9B3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7154" y="1809959"/>
            <a:ext cx="5149886" cy="410336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323165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</p:spTree>
    <p:extLst>
      <p:ext uri="{BB962C8B-B14F-4D97-AF65-F5344CB8AC3E}">
        <p14:creationId xmlns:p14="http://schemas.microsoft.com/office/powerpoint/2010/main" val="641741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valgfrie elemen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298543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35B047-1C6C-4BB1-9AAC-35E8860EA5E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154" y="619504"/>
            <a:ext cx="5149886" cy="5293824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7ABDC-D2D5-4A6E-B4C5-2E8F7BF4AC3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11160" y="619504"/>
            <a:ext cx="5149886" cy="5293824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093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5">
            <a:extLst>
              <a:ext uri="{FF2B5EF4-FFF2-40B4-BE49-F238E27FC236}">
                <a16:creationId xmlns:a16="http://schemas.microsoft.com/office/drawing/2014/main" id="{70F86513-61E2-4B24-BEA6-A699F2FC0A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60" y="619504"/>
            <a:ext cx="5149886" cy="52938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Plassholder for bilde 5">
            <a:extLst>
              <a:ext uri="{FF2B5EF4-FFF2-40B4-BE49-F238E27FC236}">
                <a16:creationId xmlns:a16="http://schemas.microsoft.com/office/drawing/2014/main" id="{B9099586-714C-4DE3-816E-CD6982F9B3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7154" y="619504"/>
            <a:ext cx="5149886" cy="52938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323165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</p:spTree>
    <p:extLst>
      <p:ext uri="{BB962C8B-B14F-4D97-AF65-F5344CB8AC3E}">
        <p14:creationId xmlns:p14="http://schemas.microsoft.com/office/powerpoint/2010/main" val="57205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(sto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bilde 5">
            <a:extLst>
              <a:ext uri="{FF2B5EF4-FFF2-40B4-BE49-F238E27FC236}">
                <a16:creationId xmlns:a16="http://schemas.microsoft.com/office/drawing/2014/main" id="{9C0BB095-47FF-4294-9915-4ED142AC03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7154" y="619504"/>
            <a:ext cx="10903891" cy="52938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298543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FD3FCA3-4503-49E6-83F2-4DF49013A4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8991" y="3781605"/>
            <a:ext cx="4856516" cy="1816654"/>
          </a:xfrm>
          <a:solidFill>
            <a:schemeClr val="bg1">
              <a:alpha val="90000"/>
            </a:schemeClr>
          </a:solidFill>
        </p:spPr>
        <p:txBody>
          <a:bodyPr lIns="648000" rIns="648000"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255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399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746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Agenda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1B50D6-0810-4E43-928C-534B46A7A4E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19359" y="1862176"/>
            <a:ext cx="9651619" cy="3978862"/>
          </a:xfrm>
          <a:prstGeom prst="rect">
            <a:avLst/>
          </a:prstGeom>
        </p:spPr>
        <p:txBody>
          <a:bodyPr lIns="91440" tIns="45720" rIns="91440" bIns="45720"/>
          <a:lstStyle>
            <a:lvl1pPr marL="0" marR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lvl1pPr>
          </a:lstStyle>
          <a:p>
            <a:pPr lvl="0"/>
            <a:r>
              <a:rPr lang="nb-NO" noProof="0"/>
              <a:t>Punkt én på agendaen i korte trekk</a:t>
            </a:r>
          </a:p>
          <a:p>
            <a:pPr lvl="0"/>
            <a:r>
              <a:rPr lang="nb-NO" noProof="0"/>
              <a:t>Punkt to på agendaen i korte trekk</a:t>
            </a:r>
          </a:p>
          <a:p>
            <a:pPr marL="0" marR="0" lvl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nb-NO" noProof="0"/>
              <a:t>Punkt tre på agendaen i korte trekk</a:t>
            </a:r>
          </a:p>
          <a:p>
            <a:pPr marL="0" marR="0" lvl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nb-NO" noProof="0"/>
              <a:t>Punkt fire på agendaen i korte trekk</a:t>
            </a:r>
          </a:p>
          <a:p>
            <a:pPr marL="0" marR="0" lvl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nb-NO" noProof="0"/>
              <a:t>Punkt fem på agendaen i korte trekk</a:t>
            </a:r>
          </a:p>
          <a:p>
            <a:pPr marL="0" marR="0" lvl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nb-NO" noProof="0"/>
              <a:t>Punkt seks på agendaen i korte trekk</a:t>
            </a:r>
          </a:p>
          <a:p>
            <a:pPr lvl="0"/>
            <a:endParaRPr lang="nb-NO" noProof="0"/>
          </a:p>
        </p:txBody>
      </p:sp>
      <p:cxnSp>
        <p:nvCxnSpPr>
          <p:cNvPr id="10" name="Rett linje 9">
            <a:extLst>
              <a:ext uri="{FF2B5EF4-FFF2-40B4-BE49-F238E27FC236}">
                <a16:creationId xmlns:a16="http://schemas.microsoft.com/office/drawing/2014/main" id="{7E2593EF-F9EB-40ED-942A-4879FA78B594}"/>
              </a:ext>
            </a:extLst>
          </p:cNvPr>
          <p:cNvCxnSpPr/>
          <p:nvPr userDrawn="1"/>
        </p:nvCxnSpPr>
        <p:spPr>
          <a:xfrm>
            <a:off x="1219359" y="2478704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Rett linje 10">
            <a:extLst>
              <a:ext uri="{FF2B5EF4-FFF2-40B4-BE49-F238E27FC236}">
                <a16:creationId xmlns:a16="http://schemas.microsoft.com/office/drawing/2014/main" id="{96CA0932-605B-4E71-B8D3-C72AAAA4A91A}"/>
              </a:ext>
            </a:extLst>
          </p:cNvPr>
          <p:cNvCxnSpPr/>
          <p:nvPr userDrawn="1"/>
        </p:nvCxnSpPr>
        <p:spPr>
          <a:xfrm>
            <a:off x="1219359" y="5253391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Rett linje 11">
            <a:extLst>
              <a:ext uri="{FF2B5EF4-FFF2-40B4-BE49-F238E27FC236}">
                <a16:creationId xmlns:a16="http://schemas.microsoft.com/office/drawing/2014/main" id="{2DF21B92-9FD0-4B71-ACA2-7C1925BD0C2C}"/>
              </a:ext>
            </a:extLst>
          </p:cNvPr>
          <p:cNvCxnSpPr/>
          <p:nvPr userDrawn="1"/>
        </p:nvCxnSpPr>
        <p:spPr>
          <a:xfrm>
            <a:off x="1219359" y="3172376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Rett linje 12">
            <a:extLst>
              <a:ext uri="{FF2B5EF4-FFF2-40B4-BE49-F238E27FC236}">
                <a16:creationId xmlns:a16="http://schemas.microsoft.com/office/drawing/2014/main" id="{91D61EF0-049D-489F-9607-DBC47717D8D1}"/>
              </a:ext>
            </a:extLst>
          </p:cNvPr>
          <p:cNvCxnSpPr/>
          <p:nvPr userDrawn="1"/>
        </p:nvCxnSpPr>
        <p:spPr>
          <a:xfrm>
            <a:off x="1219359" y="3866048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Rett linje 13">
            <a:extLst>
              <a:ext uri="{FF2B5EF4-FFF2-40B4-BE49-F238E27FC236}">
                <a16:creationId xmlns:a16="http://schemas.microsoft.com/office/drawing/2014/main" id="{0C7BCC08-99D7-4973-9AB5-A63BAB7784DB}"/>
              </a:ext>
            </a:extLst>
          </p:cNvPr>
          <p:cNvCxnSpPr/>
          <p:nvPr userDrawn="1"/>
        </p:nvCxnSpPr>
        <p:spPr>
          <a:xfrm>
            <a:off x="1219359" y="4559720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913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esentasj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e 2">
            <a:extLst>
              <a:ext uri="{FF2B5EF4-FFF2-40B4-BE49-F238E27FC236}">
                <a16:creationId xmlns:a16="http://schemas.microsoft.com/office/drawing/2014/main" id="{A3732E95-11BD-4ACF-B5AD-A1CC4F0DB8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1606" cy="1886934"/>
          </a:xfrm>
          <a:prstGeom prst="rect">
            <a:avLst/>
          </a:prstGeom>
        </p:spPr>
      </p:pic>
      <p:pic>
        <p:nvPicPr>
          <p:cNvPr id="5" name="Bilde 4">
            <a:extLst>
              <a:ext uri="{FF2B5EF4-FFF2-40B4-BE49-F238E27FC236}">
                <a16:creationId xmlns:a16="http://schemas.microsoft.com/office/drawing/2014/main" id="{A57E41EB-05AD-44D6-997C-D31E1B44F1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855" y="1883484"/>
            <a:ext cx="7418289" cy="27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47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rediger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>
            <a:extLst>
              <a:ext uri="{FF2B5EF4-FFF2-40B4-BE49-F238E27FC236}">
                <a16:creationId xmlns:a16="http://schemas.microsoft.com/office/drawing/2014/main" id="{410EA91D-3B36-4F01-BD03-074913EC30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31" name="Title 1"/>
          <p:cNvSpPr>
            <a:spLocks noGrp="1"/>
          </p:cNvSpPr>
          <p:nvPr>
            <p:ph type="ctrTitle" hasCustomPrompt="1"/>
          </p:nvPr>
        </p:nvSpPr>
        <p:spPr>
          <a:xfrm>
            <a:off x="1630018" y="2305881"/>
            <a:ext cx="8984972" cy="1709530"/>
          </a:xfrm>
          <a:ln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lang="nb-NO" sz="10000" b="1" i="0" u="none" strike="noStrike" baseline="0" smtClean="0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nb-NO" noProof="0" dirty="0"/>
              <a:t>Takk!</a:t>
            </a:r>
          </a:p>
        </p:txBody>
      </p:sp>
    </p:spTree>
    <p:extLst>
      <p:ext uri="{BB962C8B-B14F-4D97-AF65-F5344CB8AC3E}">
        <p14:creationId xmlns:p14="http://schemas.microsoft.com/office/powerpoint/2010/main" val="2359149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359" y="551048"/>
            <a:ext cx="9651619" cy="1311128"/>
          </a:xfrm>
          <a:prstGeom prst="rect">
            <a:avLst/>
          </a:prstGeom>
        </p:spPr>
        <p:txBody>
          <a:bodyPr vert="horz" wrap="square" lIns="91440" tIns="0" rIns="91440" bIns="45720" rtlCol="0" anchor="ctr" anchorCtr="0">
            <a:normAutofit/>
          </a:bodyPr>
          <a:lstStyle/>
          <a:p>
            <a:r>
              <a:rPr lang="nb-NO" noProof="0" dirty="0"/>
              <a:t>Klikk for å redigere tittelstil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358" y="1862176"/>
            <a:ext cx="9651619" cy="3978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b-NO" noProof="0" dirty="0"/>
              <a:t>Rediger tekststiler i malen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12E8B8B0-4BD5-4668-9018-913E276A5FE9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461" y="6071524"/>
            <a:ext cx="3025540" cy="78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48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90" r:id="rId5"/>
    <p:sldLayoutId id="2147483674" r:id="rId6"/>
    <p:sldLayoutId id="2147483691" r:id="rId7"/>
    <p:sldLayoutId id="2147483675" r:id="rId8"/>
    <p:sldLayoutId id="2147483692" r:id="rId9"/>
    <p:sldLayoutId id="2147483676" r:id="rId10"/>
    <p:sldLayoutId id="2147483666" r:id="rId11"/>
    <p:sldLayoutId id="2147483667" r:id="rId12"/>
    <p:sldLayoutId id="2147483694" r:id="rId13"/>
    <p:sldLayoutId id="2147483670" r:id="rId14"/>
    <p:sldLayoutId id="2147483695" r:id="rId15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74247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15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2400" kern="1200">
          <a:solidFill>
            <a:srgbClr val="274247"/>
          </a:solidFill>
          <a:latin typeface="+mn-lt"/>
          <a:ea typeface="+mn-ea"/>
          <a:cs typeface="+mn-cs"/>
        </a:defRPr>
      </a:lvl1pPr>
      <a:lvl2pPr marL="396079" indent="-144029" algn="l" defTabSz="914446" rtl="0" eaLnBrk="1" latinLnBrk="0" hangingPunct="1">
        <a:lnSpc>
          <a:spcPct val="15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◦"/>
        <a:defRPr sz="1800" kern="1200">
          <a:solidFill>
            <a:srgbClr val="274247"/>
          </a:solidFill>
          <a:latin typeface="+mn-lt"/>
          <a:ea typeface="+mn-ea"/>
          <a:cs typeface="+mn-cs"/>
        </a:defRPr>
      </a:lvl2pPr>
      <a:lvl3pPr marL="522104" indent="-108022" algn="l" defTabSz="914446" rtl="0" eaLnBrk="1" latinLnBrk="0" hangingPunct="1">
        <a:lnSpc>
          <a:spcPct val="150000"/>
        </a:lnSpc>
        <a:spcBef>
          <a:spcPts val="300"/>
        </a:spcBef>
        <a:spcAft>
          <a:spcPts val="400"/>
        </a:spcAft>
        <a:buFont typeface="Open Sans" panose="020B0606030504020204" pitchFamily="34" charset="0"/>
        <a:buChar char="­"/>
        <a:defRPr sz="1400" kern="1200">
          <a:solidFill>
            <a:srgbClr val="274247"/>
          </a:solidFill>
          <a:latin typeface="+mn-lt"/>
          <a:ea typeface="+mn-ea"/>
          <a:cs typeface="+mn-cs"/>
        </a:defRPr>
      </a:lvl3pPr>
      <a:lvl4pPr marL="666133" indent="-99020" algn="l" defTabSz="914446" rtl="0" eaLnBrk="1" latinLnBrk="0" hangingPunct="1">
        <a:lnSpc>
          <a:spcPct val="150000"/>
        </a:lnSpc>
        <a:spcBef>
          <a:spcPts val="250"/>
        </a:spcBef>
        <a:buFont typeface="Open Sans" panose="020B0606030504020204" pitchFamily="34" charset="0"/>
        <a:buChar char="­"/>
        <a:defRPr sz="1050" kern="1200">
          <a:solidFill>
            <a:srgbClr val="274247"/>
          </a:solidFill>
          <a:latin typeface="+mn-lt"/>
          <a:ea typeface="+mn-ea"/>
          <a:cs typeface="+mn-cs"/>
        </a:defRPr>
      </a:lvl4pPr>
      <a:lvl5pPr marL="774155" indent="-90018" algn="l" defTabSz="914446" rtl="0" eaLnBrk="1" latinLnBrk="0" hangingPunct="1">
        <a:lnSpc>
          <a:spcPct val="150000"/>
        </a:lnSpc>
        <a:spcBef>
          <a:spcPts val="250"/>
        </a:spcBef>
        <a:buFont typeface="Open Sans" panose="020B0606030504020204" pitchFamily="34" charset="0"/>
        <a:buChar char="­"/>
        <a:defRPr sz="1000" kern="1200">
          <a:solidFill>
            <a:srgbClr val="274247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419842-592E-434F-A9A0-9D056E8796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Microdata </a:t>
            </a:r>
            <a:r>
              <a:rPr lang="nb-NO" dirty="0" err="1"/>
              <a:t>Protection</a:t>
            </a:r>
            <a:r>
              <a:rPr lang="nb-NO" dirty="0"/>
              <a:t> Using </a:t>
            </a:r>
            <a:r>
              <a:rPr lang="nb-NO" dirty="0" err="1"/>
              <a:t>sdcMicro</a:t>
            </a:r>
            <a:endParaRPr lang="nb-NO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A0095F8-98D7-4910-A38E-D9915094E0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9471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ABA97-5394-0CE3-5C31-6A3D56F81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C46D89F6-1EE5-6F5C-56FB-4DE21F7FD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719" y="250107"/>
            <a:ext cx="5852773" cy="930511"/>
          </a:xfrm>
        </p:spPr>
        <p:txBody>
          <a:bodyPr/>
          <a:lstStyle/>
          <a:p>
            <a:r>
              <a:rPr lang="nb-NO" dirty="0" err="1"/>
              <a:t>Exercises</a:t>
            </a:r>
            <a:r>
              <a:rPr lang="nb-NO" dirty="0"/>
              <a:t> </a:t>
            </a:r>
            <a:r>
              <a:rPr lang="nb-NO" dirty="0" err="1"/>
              <a:t>Added</a:t>
            </a:r>
            <a:r>
              <a:rPr lang="nb-NO" dirty="0"/>
              <a:t> </a:t>
            </a:r>
            <a:r>
              <a:rPr lang="nb-NO" dirty="0" err="1"/>
              <a:t>Today</a:t>
            </a:r>
            <a:endParaRPr lang="nb-NO" dirty="0"/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BB9FD49C-6F4D-81D9-BA1E-B7DF07B6EF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28360" y="1747776"/>
            <a:ext cx="10935691" cy="486011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nb-NO" dirty="0" err="1"/>
              <a:t>Please</a:t>
            </a:r>
            <a:r>
              <a:rPr lang="nb-NO" dirty="0"/>
              <a:t> </a:t>
            </a:r>
            <a:r>
              <a:rPr lang="nb-NO" dirty="0" err="1"/>
              <a:t>update</a:t>
            </a:r>
            <a:r>
              <a:rPr lang="nb-NO" dirty="0"/>
              <a:t> to </a:t>
            </a:r>
            <a:r>
              <a:rPr lang="nb-NO" dirty="0" err="1"/>
              <a:t>find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files!</a:t>
            </a:r>
          </a:p>
          <a:p>
            <a:pPr>
              <a:lnSpc>
                <a:spcPct val="100000"/>
              </a:lnSpc>
            </a:pPr>
            <a:endParaRPr lang="nb-NO" dirty="0"/>
          </a:p>
          <a:p>
            <a:pPr>
              <a:lnSpc>
                <a:spcPct val="100000"/>
              </a:lnSpc>
            </a:pPr>
            <a:r>
              <a:rPr lang="nb-NO" dirty="0" err="1"/>
              <a:t>Rstudio</a:t>
            </a:r>
            <a:r>
              <a:rPr lang="nb-NO" dirty="0"/>
              <a:t>: press </a:t>
            </a:r>
            <a:r>
              <a:rPr lang="nb-NO" dirty="0" err="1"/>
              <a:t>the</a:t>
            </a:r>
            <a:r>
              <a:rPr lang="nb-NO" dirty="0"/>
              <a:t> pull </a:t>
            </a:r>
            <a:r>
              <a:rPr lang="nb-NO" dirty="0" err="1"/>
              <a:t>button</a:t>
            </a:r>
            <a:endParaRPr lang="nb-NO" dirty="0"/>
          </a:p>
          <a:p>
            <a:pPr>
              <a:lnSpc>
                <a:spcPct val="100000"/>
              </a:lnSpc>
            </a:pPr>
            <a:r>
              <a:rPr lang="nb-NO" dirty="0"/>
              <a:t>Terminal/</a:t>
            </a:r>
            <a:r>
              <a:rPr lang="nb-NO" dirty="0" err="1"/>
              <a:t>other</a:t>
            </a:r>
            <a:r>
              <a:rPr lang="nb-NO" dirty="0"/>
              <a:t>: ‘</a:t>
            </a:r>
            <a:r>
              <a:rPr lang="nb-NO" dirty="0" err="1"/>
              <a:t>git</a:t>
            </a:r>
            <a:r>
              <a:rPr lang="nb-NO" dirty="0"/>
              <a:t> pull’</a:t>
            </a:r>
          </a:p>
          <a:p>
            <a:pPr>
              <a:lnSpc>
                <a:spcPct val="100000"/>
              </a:lnSpc>
            </a:pPr>
            <a:endParaRPr lang="nb-NO" dirty="0"/>
          </a:p>
          <a:p>
            <a:pPr marL="0" indent="0">
              <a:lnSpc>
                <a:spcPct val="100000"/>
              </a:lnSpc>
              <a:buNone/>
            </a:pPr>
            <a:endParaRPr lang="nb-NO" dirty="0"/>
          </a:p>
          <a:p>
            <a:pPr marL="0" indent="0">
              <a:lnSpc>
                <a:spcPct val="100000"/>
              </a:lnSpc>
              <a:buNone/>
            </a:pPr>
            <a:endParaRPr lang="nb-NO" dirty="0"/>
          </a:p>
          <a:p>
            <a:pPr marL="0" indent="0">
              <a:lnSpc>
                <a:spcPct val="100000"/>
              </a:lnSpc>
              <a:buNone/>
            </a:pPr>
            <a:endParaRPr lang="nb-NO" sz="1800" dirty="0"/>
          </a:p>
          <a:p>
            <a:pPr>
              <a:lnSpc>
                <a:spcPct val="100000"/>
              </a:lnSpc>
            </a:pPr>
            <a:r>
              <a:rPr lang="nb-NO" sz="1800" dirty="0"/>
              <a:t>Web </a:t>
            </a:r>
            <a:r>
              <a:rPr lang="nb-NO" sz="1800" dirty="0" err="1"/>
              <a:t>access</a:t>
            </a:r>
            <a:r>
              <a:rPr lang="nb-NO" sz="1800" dirty="0"/>
              <a:t>: </a:t>
            </a:r>
            <a:r>
              <a:rPr lang="nb-NO" sz="1800" dirty="0" err="1"/>
              <a:t>https</a:t>
            </a:r>
            <a:r>
              <a:rPr lang="nb-NO" sz="1800" dirty="0"/>
              <a:t>://</a:t>
            </a:r>
            <a:r>
              <a:rPr lang="nb-NO" sz="1800" dirty="0" err="1"/>
              <a:t>github.com</a:t>
            </a:r>
            <a:r>
              <a:rPr lang="nb-NO" sz="1800" dirty="0"/>
              <a:t>/</a:t>
            </a:r>
            <a:r>
              <a:rPr lang="nb-NO" sz="1800" dirty="0" err="1"/>
              <a:t>statisticsnorway</a:t>
            </a:r>
            <a:r>
              <a:rPr lang="nb-NO" sz="1800" dirty="0"/>
              <a:t>/kurs-metode-sdc-2025</a:t>
            </a:r>
            <a:endParaRPr lang="nb-NO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51C37D-88C9-57AF-5A00-6F50BFC81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700" y="250107"/>
            <a:ext cx="5748276" cy="5109579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C4B979A-2E75-EFF1-93FE-DBF568674D18}"/>
              </a:ext>
            </a:extLst>
          </p:cNvPr>
          <p:cNvSpPr/>
          <p:nvPr/>
        </p:nvSpPr>
        <p:spPr>
          <a:xfrm>
            <a:off x="7465671" y="740779"/>
            <a:ext cx="706056" cy="312517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1197A2D-30B4-D2EE-C5D7-EC2269C47005}"/>
              </a:ext>
            </a:extLst>
          </p:cNvPr>
          <p:cNvSpPr/>
          <p:nvPr/>
        </p:nvSpPr>
        <p:spPr>
          <a:xfrm>
            <a:off x="6481823" y="4572000"/>
            <a:ext cx="1689904" cy="532435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5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6786E-A6E3-5020-6302-7971640A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DF457EED-51D4-90D9-B1AE-E64665130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359" y="551048"/>
            <a:ext cx="9651619" cy="930511"/>
          </a:xfrm>
        </p:spPr>
        <p:txBody>
          <a:bodyPr/>
          <a:lstStyle/>
          <a:p>
            <a:r>
              <a:rPr lang="nb-NO" dirty="0" err="1"/>
              <a:t>Today’s</a:t>
            </a:r>
            <a:r>
              <a:rPr lang="nb-NO" dirty="0"/>
              <a:t> Plan</a:t>
            </a:r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5DEFD36C-D360-55E3-8D37-05A0BB1960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28360" y="1747776"/>
            <a:ext cx="10646324" cy="409326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nb-NO" dirty="0"/>
              <a:t>Goal: </a:t>
            </a:r>
            <a:r>
              <a:rPr lang="nb-NO" dirty="0" err="1"/>
              <a:t>everyone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able</a:t>
            </a:r>
            <a:r>
              <a:rPr lang="nb-NO" dirty="0"/>
              <a:t> to </a:t>
            </a:r>
            <a:r>
              <a:rPr lang="nb-NO" dirty="0" err="1"/>
              <a:t>anonymize</a:t>
            </a:r>
            <a:r>
              <a:rPr lang="nb-NO" dirty="0"/>
              <a:t> a </a:t>
            </a:r>
            <a:r>
              <a:rPr lang="nb-NO" dirty="0" err="1"/>
              <a:t>dataset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sdcMicro</a:t>
            </a:r>
            <a:r>
              <a:rPr lang="nb-NO" dirty="0"/>
              <a:t>:</a:t>
            </a:r>
          </a:p>
          <a:p>
            <a:pPr lvl="1">
              <a:lnSpc>
                <a:spcPct val="100000"/>
              </a:lnSpc>
            </a:pPr>
            <a:r>
              <a:rPr lang="nb-NO" dirty="0" err="1"/>
              <a:t>Recode</a:t>
            </a:r>
            <a:r>
              <a:rPr lang="nb-NO" dirty="0"/>
              <a:t>, </a:t>
            </a:r>
            <a:r>
              <a:rPr lang="nb-NO" dirty="0" err="1"/>
              <a:t>suppress</a:t>
            </a:r>
            <a:r>
              <a:rPr lang="nb-NO" dirty="0"/>
              <a:t>, PRAM</a:t>
            </a:r>
          </a:p>
          <a:p>
            <a:pPr lvl="1">
              <a:lnSpc>
                <a:spcPct val="100000"/>
              </a:lnSpc>
            </a:pPr>
            <a:r>
              <a:rPr lang="nb-NO" dirty="0" err="1"/>
              <a:t>Calculate</a:t>
            </a:r>
            <a:r>
              <a:rPr lang="nb-NO" dirty="0"/>
              <a:t> risk </a:t>
            </a:r>
            <a:r>
              <a:rPr lang="nb-NO" dirty="0" err="1"/>
              <a:t>before</a:t>
            </a:r>
            <a:r>
              <a:rPr lang="nb-NO" dirty="0"/>
              <a:t> and </a:t>
            </a:r>
            <a:r>
              <a:rPr lang="nb-NO" dirty="0" err="1"/>
              <a:t>after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process</a:t>
            </a:r>
            <a:endParaRPr lang="nb-NO" dirty="0"/>
          </a:p>
          <a:p>
            <a:pPr lvl="1">
              <a:lnSpc>
                <a:spcPct val="100000"/>
              </a:lnSpc>
            </a:pPr>
            <a:r>
              <a:rPr lang="nb-NO" dirty="0" err="1"/>
              <a:t>Generate</a:t>
            </a:r>
            <a:r>
              <a:rPr lang="nb-NO" dirty="0"/>
              <a:t> a report</a:t>
            </a:r>
          </a:p>
          <a:p>
            <a:pPr marL="252050" lvl="1" indent="0">
              <a:buNone/>
            </a:pPr>
            <a:endParaRPr lang="nb-NO" dirty="0"/>
          </a:p>
          <a:p>
            <a:pPr>
              <a:lnSpc>
                <a:spcPct val="100000"/>
              </a:lnSpc>
            </a:pPr>
            <a:r>
              <a:rPr lang="nb-NO" dirty="0" err="1"/>
              <a:t>Introduction</a:t>
            </a:r>
            <a:r>
              <a:rPr lang="nb-NO" dirty="0"/>
              <a:t> to </a:t>
            </a:r>
            <a:r>
              <a:rPr lang="nb-NO" dirty="0" err="1"/>
              <a:t>sdcMicro</a:t>
            </a:r>
            <a:endParaRPr lang="nb-NO" dirty="0"/>
          </a:p>
          <a:p>
            <a:pPr>
              <a:lnSpc>
                <a:spcPct val="100000"/>
              </a:lnSpc>
            </a:pPr>
            <a:r>
              <a:rPr lang="nb-NO" dirty="0" err="1"/>
              <a:t>Demonstration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sdcMicro</a:t>
            </a:r>
            <a:endParaRPr lang="nb-NO" dirty="0"/>
          </a:p>
          <a:p>
            <a:pPr>
              <a:lnSpc>
                <a:spcPct val="100000"/>
              </a:lnSpc>
            </a:pPr>
            <a:r>
              <a:rPr lang="nb-NO" dirty="0"/>
              <a:t>2-3 </a:t>
            </a:r>
            <a:r>
              <a:rPr lang="nb-NO" dirty="0" err="1"/>
              <a:t>exercise</a:t>
            </a:r>
            <a:r>
              <a:rPr lang="nb-NO" dirty="0"/>
              <a:t> sessions (20-30 min </a:t>
            </a:r>
            <a:r>
              <a:rPr lang="nb-NO" dirty="0" err="1"/>
              <a:t>each</a:t>
            </a:r>
            <a:r>
              <a:rPr lang="nb-NO" dirty="0"/>
              <a:t>)</a:t>
            </a:r>
          </a:p>
          <a:p>
            <a:pPr>
              <a:lnSpc>
                <a:spcPct val="100000"/>
              </a:lnSpc>
            </a:pPr>
            <a:r>
              <a:rPr lang="nb-NO" dirty="0"/>
              <a:t>GUI App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sdcMicro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5037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4632189E-0C85-466E-8062-F4139B9C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sdcMicro</a:t>
            </a:r>
            <a:r>
              <a:rPr lang="nb-NO" dirty="0"/>
              <a:t> — </a:t>
            </a:r>
            <a:r>
              <a:rPr lang="nb-NO" dirty="0" err="1"/>
              <a:t>Introduction</a:t>
            </a:r>
            <a:endParaRPr lang="nb-NO" dirty="0"/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EE970C6A-ADB2-4F64-934B-FDB02A6E63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28360" y="1862176"/>
            <a:ext cx="10191023" cy="3978862"/>
          </a:xfrm>
        </p:spPr>
        <p:txBody>
          <a:bodyPr/>
          <a:lstStyle/>
          <a:p>
            <a:r>
              <a:rPr lang="en-US" dirty="0" err="1"/>
              <a:t>sdcMicro</a:t>
            </a:r>
            <a:r>
              <a:rPr lang="en-US" dirty="0"/>
              <a:t> is a free, open-source R-package to anonymize microdata</a:t>
            </a:r>
          </a:p>
          <a:p>
            <a:r>
              <a:rPr lang="nb-NO" dirty="0"/>
              <a:t>Main </a:t>
            </a:r>
            <a:r>
              <a:rPr lang="nb-NO" dirty="0" err="1"/>
              <a:t>authors</a:t>
            </a:r>
            <a:r>
              <a:rPr lang="nb-NO" dirty="0"/>
              <a:t>: M. </a:t>
            </a:r>
            <a:r>
              <a:rPr lang="nb-NO" dirty="0" err="1"/>
              <a:t>Templ</a:t>
            </a:r>
            <a:r>
              <a:rPr lang="nb-NO" dirty="0"/>
              <a:t>, B. </a:t>
            </a:r>
            <a:r>
              <a:rPr lang="nb-NO" dirty="0" err="1"/>
              <a:t>Meindl</a:t>
            </a:r>
            <a:r>
              <a:rPr lang="nb-NO" dirty="0"/>
              <a:t>, A. </a:t>
            </a:r>
            <a:r>
              <a:rPr lang="nb-NO" dirty="0" err="1"/>
              <a:t>Kowarik</a:t>
            </a:r>
            <a:r>
              <a:rPr lang="nb-NO" dirty="0"/>
              <a:t>, J. </a:t>
            </a:r>
            <a:r>
              <a:rPr lang="nb-NO" dirty="0" err="1"/>
              <a:t>Gussenbauer</a:t>
            </a:r>
            <a:endParaRPr lang="nb-NO" dirty="0"/>
          </a:p>
          <a:p>
            <a:r>
              <a:rPr lang="nb-NO" dirty="0"/>
              <a:t>Version 1.0.0 </a:t>
            </a:r>
            <a:r>
              <a:rPr lang="nb-NO" dirty="0" err="1"/>
              <a:t>was</a:t>
            </a:r>
            <a:r>
              <a:rPr lang="nb-NO" dirty="0"/>
              <a:t> </a:t>
            </a:r>
            <a:r>
              <a:rPr lang="nb-NO" dirty="0" err="1"/>
              <a:t>released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CRAN in 2007</a:t>
            </a:r>
          </a:p>
        </p:txBody>
      </p:sp>
    </p:spTree>
    <p:extLst>
      <p:ext uri="{BB962C8B-B14F-4D97-AF65-F5344CB8AC3E}">
        <p14:creationId xmlns:p14="http://schemas.microsoft.com/office/powerpoint/2010/main" val="133937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B42EE-DFD6-E173-839A-E8E0842E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B70D-3F16-E4DA-B46E-5AC53E4FA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324625"/>
            <a:ext cx="4877039" cy="897963"/>
          </a:xfrm>
        </p:spPr>
        <p:txBody>
          <a:bodyPr/>
          <a:lstStyle/>
          <a:p>
            <a:r>
              <a:rPr lang="en-US" dirty="0" err="1"/>
              <a:t>sdcMicro</a:t>
            </a:r>
            <a:r>
              <a:rPr lang="en-US" dirty="0"/>
              <a:t> — Features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EC15CB-1D50-D5BB-F0A2-08712AB8E6C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34892" y="1449011"/>
            <a:ext cx="11516930" cy="51851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873958-8F2A-2308-BE70-13A20978D2CF}"/>
              </a:ext>
            </a:extLst>
          </p:cNvPr>
          <p:cNvSpPr/>
          <p:nvPr/>
        </p:nvSpPr>
        <p:spPr>
          <a:xfrm>
            <a:off x="6464035" y="3100251"/>
            <a:ext cx="1600102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309D44-A5B4-99A8-2841-7C4ABCBE323D}"/>
              </a:ext>
            </a:extLst>
          </p:cNvPr>
          <p:cNvSpPr/>
          <p:nvPr/>
        </p:nvSpPr>
        <p:spPr>
          <a:xfrm>
            <a:off x="9305108" y="3082834"/>
            <a:ext cx="1763485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5D1B84-CFD1-6FBB-DB38-8D99B6B3415C}"/>
              </a:ext>
            </a:extLst>
          </p:cNvPr>
          <p:cNvSpPr/>
          <p:nvPr/>
        </p:nvSpPr>
        <p:spPr>
          <a:xfrm>
            <a:off x="3696789" y="3919646"/>
            <a:ext cx="1223553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AEE56E-9BE8-04E2-0E96-FE437AC182A1}"/>
              </a:ext>
            </a:extLst>
          </p:cNvPr>
          <p:cNvSpPr/>
          <p:nvPr/>
        </p:nvSpPr>
        <p:spPr>
          <a:xfrm>
            <a:off x="6464034" y="3919645"/>
            <a:ext cx="2035532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1FEC4-D9AE-A5F2-2AF0-3ACB850F2858}"/>
              </a:ext>
            </a:extLst>
          </p:cNvPr>
          <p:cNvSpPr/>
          <p:nvPr/>
        </p:nvSpPr>
        <p:spPr>
          <a:xfrm>
            <a:off x="3688081" y="3627908"/>
            <a:ext cx="796833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9E4738-D2A2-C479-87C1-B11DD82CE9C6}"/>
              </a:ext>
            </a:extLst>
          </p:cNvPr>
          <p:cNvSpPr/>
          <p:nvPr/>
        </p:nvSpPr>
        <p:spPr>
          <a:xfrm>
            <a:off x="6459679" y="4739039"/>
            <a:ext cx="698768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0FB907-538A-4F70-48EA-4B6F5193C502}"/>
              </a:ext>
            </a:extLst>
          </p:cNvPr>
          <p:cNvSpPr/>
          <p:nvPr/>
        </p:nvSpPr>
        <p:spPr>
          <a:xfrm>
            <a:off x="9305108" y="4196232"/>
            <a:ext cx="1763484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76CDB6-576A-A8D5-5337-933C0178EC8D}"/>
              </a:ext>
            </a:extLst>
          </p:cNvPr>
          <p:cNvSpPr/>
          <p:nvPr/>
        </p:nvSpPr>
        <p:spPr>
          <a:xfrm>
            <a:off x="9305109" y="3919645"/>
            <a:ext cx="875211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E95CA0-9603-AC5E-430A-F402A6365F5B}"/>
              </a:ext>
            </a:extLst>
          </p:cNvPr>
          <p:cNvSpPr/>
          <p:nvPr/>
        </p:nvSpPr>
        <p:spPr>
          <a:xfrm>
            <a:off x="892629" y="6066309"/>
            <a:ext cx="1554479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037EC7-44D7-F7BB-76ED-21A469C2950A}"/>
              </a:ext>
            </a:extLst>
          </p:cNvPr>
          <p:cNvSpPr/>
          <p:nvPr/>
        </p:nvSpPr>
        <p:spPr>
          <a:xfrm>
            <a:off x="3696790" y="1720731"/>
            <a:ext cx="1110341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C65923-780E-846A-2839-7339DEE9BF3C}"/>
              </a:ext>
            </a:extLst>
          </p:cNvPr>
          <p:cNvSpPr/>
          <p:nvPr/>
        </p:nvSpPr>
        <p:spPr>
          <a:xfrm>
            <a:off x="6468390" y="1720730"/>
            <a:ext cx="2710444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2712C7-8B54-CDFD-E9F7-DC7AC78AE29F}"/>
              </a:ext>
            </a:extLst>
          </p:cNvPr>
          <p:cNvSpPr/>
          <p:nvPr/>
        </p:nvSpPr>
        <p:spPr>
          <a:xfrm>
            <a:off x="9305106" y="1720729"/>
            <a:ext cx="1828800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D8B8F-BACF-4A8A-AD7E-5279D423AAA5}"/>
              </a:ext>
            </a:extLst>
          </p:cNvPr>
          <p:cNvSpPr/>
          <p:nvPr/>
        </p:nvSpPr>
        <p:spPr>
          <a:xfrm>
            <a:off x="6468390" y="5545155"/>
            <a:ext cx="1038399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862E60-7434-1F2B-4469-D7CC5FF82599}"/>
              </a:ext>
            </a:extLst>
          </p:cNvPr>
          <p:cNvSpPr/>
          <p:nvPr/>
        </p:nvSpPr>
        <p:spPr>
          <a:xfrm>
            <a:off x="9305107" y="5033043"/>
            <a:ext cx="1763483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FBB1B4-42B8-EC52-C0AB-5626F163E72F}"/>
              </a:ext>
            </a:extLst>
          </p:cNvPr>
          <p:cNvSpPr/>
          <p:nvPr/>
        </p:nvSpPr>
        <p:spPr>
          <a:xfrm>
            <a:off x="892630" y="5033043"/>
            <a:ext cx="1101633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33907B-DC34-EFC3-E76D-810EDD6D657F}"/>
              </a:ext>
            </a:extLst>
          </p:cNvPr>
          <p:cNvSpPr/>
          <p:nvPr/>
        </p:nvSpPr>
        <p:spPr>
          <a:xfrm>
            <a:off x="6464034" y="2008506"/>
            <a:ext cx="2031176" cy="243841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6D91EF-C170-0265-A6A8-5DD730F66CD1}"/>
              </a:ext>
            </a:extLst>
          </p:cNvPr>
          <p:cNvSpPr/>
          <p:nvPr/>
        </p:nvSpPr>
        <p:spPr>
          <a:xfrm>
            <a:off x="6464035" y="2568633"/>
            <a:ext cx="581200" cy="243841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809847-C776-1205-77E1-7AF5C3BA2587}"/>
              </a:ext>
            </a:extLst>
          </p:cNvPr>
          <p:cNvSpPr/>
          <p:nvPr/>
        </p:nvSpPr>
        <p:spPr>
          <a:xfrm>
            <a:off x="3696788" y="2008506"/>
            <a:ext cx="779418" cy="243841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F11715-6CC3-C0CD-728E-0C1A566737B6}"/>
              </a:ext>
            </a:extLst>
          </p:cNvPr>
          <p:cNvSpPr/>
          <p:nvPr/>
        </p:nvSpPr>
        <p:spPr>
          <a:xfrm>
            <a:off x="3696788" y="5822468"/>
            <a:ext cx="1223552" cy="243841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C9F2B2-D9B7-8273-2ACC-7CC4B35C37C4}"/>
              </a:ext>
            </a:extLst>
          </p:cNvPr>
          <p:cNvSpPr/>
          <p:nvPr/>
        </p:nvSpPr>
        <p:spPr>
          <a:xfrm>
            <a:off x="3696788" y="2833809"/>
            <a:ext cx="796833" cy="243841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0F5CA2-C7D7-1C0A-9C01-EC2BA8C4C824}"/>
              </a:ext>
            </a:extLst>
          </p:cNvPr>
          <p:cNvSpPr/>
          <p:nvPr/>
        </p:nvSpPr>
        <p:spPr>
          <a:xfrm>
            <a:off x="892627" y="2833809"/>
            <a:ext cx="1101635" cy="243841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9CEB4A-0DAC-3BAB-BDCE-C0DF5E51FC3C}"/>
              </a:ext>
            </a:extLst>
          </p:cNvPr>
          <p:cNvSpPr/>
          <p:nvPr/>
        </p:nvSpPr>
        <p:spPr>
          <a:xfrm>
            <a:off x="6459678" y="5822468"/>
            <a:ext cx="1142905" cy="243841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8F0F9A-10C1-BF79-BEEC-CBFA13B06CDF}"/>
              </a:ext>
            </a:extLst>
          </p:cNvPr>
          <p:cNvSpPr/>
          <p:nvPr/>
        </p:nvSpPr>
        <p:spPr>
          <a:xfrm>
            <a:off x="9305106" y="5838726"/>
            <a:ext cx="1206139" cy="243841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9F9C6B-5920-8396-F53C-6A9D2EC24E61}"/>
              </a:ext>
            </a:extLst>
          </p:cNvPr>
          <p:cNvSpPr/>
          <p:nvPr/>
        </p:nvSpPr>
        <p:spPr>
          <a:xfrm>
            <a:off x="892628" y="4465229"/>
            <a:ext cx="1214845" cy="243841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89E07-837B-B093-4393-926DCF1369D5}"/>
              </a:ext>
            </a:extLst>
          </p:cNvPr>
          <p:cNvSpPr/>
          <p:nvPr/>
        </p:nvSpPr>
        <p:spPr>
          <a:xfrm>
            <a:off x="6459678" y="4191996"/>
            <a:ext cx="2035532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E738DE-2E3F-E41E-48FC-826DE4BB68E5}"/>
              </a:ext>
            </a:extLst>
          </p:cNvPr>
          <p:cNvSpPr/>
          <p:nvPr/>
        </p:nvSpPr>
        <p:spPr>
          <a:xfrm>
            <a:off x="9305106" y="2295253"/>
            <a:ext cx="801188" cy="243841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6F97B7-9E45-7E85-6D51-7ABC0FEDB219}"/>
              </a:ext>
            </a:extLst>
          </p:cNvPr>
          <p:cNvSpPr/>
          <p:nvPr/>
        </p:nvSpPr>
        <p:spPr>
          <a:xfrm>
            <a:off x="9305106" y="2841425"/>
            <a:ext cx="1123405" cy="243841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EA5598-A21E-914F-509A-F9011FF09605}"/>
              </a:ext>
            </a:extLst>
          </p:cNvPr>
          <p:cNvSpPr/>
          <p:nvPr/>
        </p:nvSpPr>
        <p:spPr>
          <a:xfrm>
            <a:off x="6459678" y="2838837"/>
            <a:ext cx="698769" cy="243841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ACDA71-78B9-4559-A8EE-C42BA9AA2221}"/>
              </a:ext>
            </a:extLst>
          </p:cNvPr>
          <p:cNvSpPr/>
          <p:nvPr/>
        </p:nvSpPr>
        <p:spPr>
          <a:xfrm>
            <a:off x="892627" y="2568632"/>
            <a:ext cx="1101635" cy="243841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322B17-721A-5029-EABD-469480DB10C6}"/>
              </a:ext>
            </a:extLst>
          </p:cNvPr>
          <p:cNvSpPr/>
          <p:nvPr/>
        </p:nvSpPr>
        <p:spPr>
          <a:xfrm>
            <a:off x="892627" y="2018099"/>
            <a:ext cx="1214846" cy="243841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D510CE9-E8E5-6AE6-64D7-DD85BA10EE63}"/>
              </a:ext>
            </a:extLst>
          </p:cNvPr>
          <p:cNvSpPr/>
          <p:nvPr/>
        </p:nvSpPr>
        <p:spPr>
          <a:xfrm>
            <a:off x="892627" y="4181322"/>
            <a:ext cx="1528354" cy="243841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3DEE05-E754-2FA6-8A42-3C8344CE695E}"/>
              </a:ext>
            </a:extLst>
          </p:cNvPr>
          <p:cNvSpPr/>
          <p:nvPr/>
        </p:nvSpPr>
        <p:spPr>
          <a:xfrm>
            <a:off x="892627" y="5809961"/>
            <a:ext cx="816333" cy="243841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340DCD-50BB-CF61-230D-3564E007F437}"/>
              </a:ext>
            </a:extLst>
          </p:cNvPr>
          <p:cNvSpPr/>
          <p:nvPr/>
        </p:nvSpPr>
        <p:spPr>
          <a:xfrm>
            <a:off x="3692433" y="5242049"/>
            <a:ext cx="1323704" cy="243841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528D63-039F-7E8C-AEB4-AB5073047402}"/>
              </a:ext>
            </a:extLst>
          </p:cNvPr>
          <p:cNvSpPr/>
          <p:nvPr/>
        </p:nvSpPr>
        <p:spPr>
          <a:xfrm>
            <a:off x="3692433" y="4457398"/>
            <a:ext cx="992778" cy="243841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145316-2E38-A590-886A-E4BAA698CC1D}"/>
              </a:ext>
            </a:extLst>
          </p:cNvPr>
          <p:cNvSpPr/>
          <p:nvPr/>
        </p:nvSpPr>
        <p:spPr>
          <a:xfrm>
            <a:off x="6477098" y="3638978"/>
            <a:ext cx="2018112" cy="243841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4BFB1B-BFBD-E020-02BE-A615C4EB16F5}"/>
              </a:ext>
            </a:extLst>
          </p:cNvPr>
          <p:cNvSpPr/>
          <p:nvPr/>
        </p:nvSpPr>
        <p:spPr>
          <a:xfrm>
            <a:off x="9305105" y="3364832"/>
            <a:ext cx="1206139" cy="243841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7369B7-B9BF-F6DC-F779-7A42204015B0}"/>
              </a:ext>
            </a:extLst>
          </p:cNvPr>
          <p:cNvSpPr/>
          <p:nvPr/>
        </p:nvSpPr>
        <p:spPr>
          <a:xfrm>
            <a:off x="9305105" y="3641965"/>
            <a:ext cx="1310643" cy="243841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15A79E-A8AC-29F9-1938-B452DBAF6889}"/>
              </a:ext>
            </a:extLst>
          </p:cNvPr>
          <p:cNvSpPr/>
          <p:nvPr/>
        </p:nvSpPr>
        <p:spPr>
          <a:xfrm>
            <a:off x="3696788" y="3364832"/>
            <a:ext cx="1519646" cy="243841"/>
          </a:xfrm>
          <a:prstGeom prst="rect">
            <a:avLst/>
          </a:prstGeom>
          <a:solidFill>
            <a:schemeClr val="accent4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B6757B6-DE8E-0462-F4B4-819909CC7861}"/>
              </a:ext>
            </a:extLst>
          </p:cNvPr>
          <p:cNvSpPr/>
          <p:nvPr/>
        </p:nvSpPr>
        <p:spPr>
          <a:xfrm>
            <a:off x="3688081" y="2568001"/>
            <a:ext cx="1119050" cy="243841"/>
          </a:xfrm>
          <a:prstGeom prst="rect">
            <a:avLst/>
          </a:prstGeom>
          <a:solidFill>
            <a:schemeClr val="accent4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64E356D-EBB6-3651-0B68-0BAAEB1D568E}"/>
              </a:ext>
            </a:extLst>
          </p:cNvPr>
          <p:cNvSpPr/>
          <p:nvPr/>
        </p:nvSpPr>
        <p:spPr>
          <a:xfrm>
            <a:off x="892627" y="3364832"/>
            <a:ext cx="1214846" cy="243841"/>
          </a:xfrm>
          <a:prstGeom prst="rect">
            <a:avLst/>
          </a:prstGeom>
          <a:solidFill>
            <a:schemeClr val="accent4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201E6C-6889-9E63-7ACD-9D42A11FF9D9}"/>
              </a:ext>
            </a:extLst>
          </p:cNvPr>
          <p:cNvSpPr/>
          <p:nvPr/>
        </p:nvSpPr>
        <p:spPr>
          <a:xfrm>
            <a:off x="892627" y="3623234"/>
            <a:ext cx="1101635" cy="243841"/>
          </a:xfrm>
          <a:prstGeom prst="rect">
            <a:avLst/>
          </a:prstGeom>
          <a:solidFill>
            <a:schemeClr val="accent4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81CAA31-2243-6F5A-04FD-62255D363240}"/>
              </a:ext>
            </a:extLst>
          </p:cNvPr>
          <p:cNvSpPr/>
          <p:nvPr/>
        </p:nvSpPr>
        <p:spPr>
          <a:xfrm>
            <a:off x="6459678" y="4465229"/>
            <a:ext cx="1473831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CACDE5C-F871-6AB0-3301-008CF129270D}"/>
              </a:ext>
            </a:extLst>
          </p:cNvPr>
          <p:cNvSpPr/>
          <p:nvPr/>
        </p:nvSpPr>
        <p:spPr>
          <a:xfrm>
            <a:off x="6468390" y="5033043"/>
            <a:ext cx="1323705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9EC633-F9D8-E561-62F0-28DCD701305B}"/>
              </a:ext>
            </a:extLst>
          </p:cNvPr>
          <p:cNvSpPr txBox="1"/>
          <p:nvPr/>
        </p:nvSpPr>
        <p:spPr>
          <a:xfrm>
            <a:off x="6885983" y="231516"/>
            <a:ext cx="36252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9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18 anonymization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12 risk assessment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4 utility evaluation functions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DB39FC2-C323-5BF6-D8C1-3F70CD6E2025}"/>
              </a:ext>
            </a:extLst>
          </p:cNvPr>
          <p:cNvSpPr/>
          <p:nvPr/>
        </p:nvSpPr>
        <p:spPr>
          <a:xfrm>
            <a:off x="7218141" y="557711"/>
            <a:ext cx="2711672" cy="192085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0F9AF18-D670-571B-A7CC-1178E72B8617}"/>
              </a:ext>
            </a:extLst>
          </p:cNvPr>
          <p:cNvSpPr/>
          <p:nvPr/>
        </p:nvSpPr>
        <p:spPr>
          <a:xfrm>
            <a:off x="7213032" y="315682"/>
            <a:ext cx="1072760" cy="193726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D771D92-9D04-F453-10BF-CE35A245386B}"/>
              </a:ext>
            </a:extLst>
          </p:cNvPr>
          <p:cNvSpPr/>
          <p:nvPr/>
        </p:nvSpPr>
        <p:spPr>
          <a:xfrm>
            <a:off x="7213031" y="798099"/>
            <a:ext cx="2830043" cy="186084"/>
          </a:xfrm>
          <a:prstGeom prst="rect">
            <a:avLst/>
          </a:prstGeom>
          <a:solidFill>
            <a:schemeClr val="accent3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BD3BB09-6653-B81E-9346-1666E02EF81A}"/>
              </a:ext>
            </a:extLst>
          </p:cNvPr>
          <p:cNvSpPr/>
          <p:nvPr/>
        </p:nvSpPr>
        <p:spPr>
          <a:xfrm>
            <a:off x="7213032" y="1031598"/>
            <a:ext cx="2784067" cy="185724"/>
          </a:xfrm>
          <a:prstGeom prst="rect">
            <a:avLst/>
          </a:prstGeom>
          <a:solidFill>
            <a:schemeClr val="accent4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3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7" grpId="0" animBg="1"/>
      <p:bldP spid="48" grpId="0" animBg="1"/>
      <p:bldP spid="50" grpId="0" animBg="1"/>
      <p:bldP spid="51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838A2-4BA2-9A1C-D561-0DC9509C7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634C5-5C1F-229E-1C68-B680A7E07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359" y="551048"/>
            <a:ext cx="10132582" cy="785383"/>
          </a:xfrm>
        </p:spPr>
        <p:txBody>
          <a:bodyPr/>
          <a:lstStyle/>
          <a:p>
            <a:r>
              <a:rPr lang="en-US" dirty="0"/>
              <a:t>Create Initial </a:t>
            </a:r>
            <a:r>
              <a:rPr lang="en-US" dirty="0" err="1"/>
              <a:t>sdcMicroObj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ECF43-F763-CB59-23B0-BEC43320590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61901" y="1456266"/>
            <a:ext cx="10290299" cy="438477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We always start by creating an </a:t>
            </a:r>
            <a:r>
              <a:rPr lang="en-US" dirty="0" err="1"/>
              <a:t>sdcMicroObj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Include the original dataset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Include information about the variables in the dataset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Key variables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Sensitive variables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Direct identifying variables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Etc.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We make a new </a:t>
            </a:r>
            <a:r>
              <a:rPr lang="en-US" dirty="0" err="1"/>
              <a:t>sdcMicroObj</a:t>
            </a:r>
            <a:r>
              <a:rPr lang="en-US" dirty="0"/>
              <a:t> after each anonymization step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scdMicroObj</a:t>
            </a:r>
            <a:r>
              <a:rPr lang="en-US" dirty="0"/>
              <a:t> contains useful information about the current state of the dataset (e.g., risk)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We can compare the risk before and after an anonymization method to see its effect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7864C-F3EC-F527-D623-30B61D33A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113" y="2222385"/>
            <a:ext cx="4006828" cy="196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2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E3F3-0665-A4A1-845A-169CBF1127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41400" y="1686295"/>
            <a:ext cx="4076866" cy="4997726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 err="1">
                <a:latin typeface="Lucida Console" panose="020B0609040504020204" pitchFamily="49" charset="0"/>
              </a:rPr>
              <a:t>createSdcObj</a:t>
            </a:r>
            <a:r>
              <a:rPr lang="en-US" sz="1800" dirty="0">
                <a:latin typeface="Lucida Console" panose="020B06090405040202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</a:t>
            </a:r>
            <a:r>
              <a:rPr lang="en-US" sz="1800" dirty="0" err="1">
                <a:latin typeface="Lucida Console" panose="020B0609040504020204" pitchFamily="49" charset="0"/>
              </a:rPr>
              <a:t>dat</a:t>
            </a:r>
            <a:r>
              <a:rPr lang="en-US" sz="1800" dirty="0">
                <a:latin typeface="Lucida Console" panose="020B060904050402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</a:t>
            </a:r>
            <a:r>
              <a:rPr lang="en-US" sz="1800" dirty="0" err="1">
                <a:latin typeface="Lucida Console" panose="020B0609040504020204" pitchFamily="49" charset="0"/>
              </a:rPr>
              <a:t>keyVars</a:t>
            </a:r>
            <a:r>
              <a:rPr lang="en-US" sz="1800" dirty="0">
                <a:latin typeface="Lucida Console" panose="020B060904050402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</a:t>
            </a:r>
            <a:r>
              <a:rPr lang="en-US" sz="1800" dirty="0" err="1">
                <a:latin typeface="Lucida Console" panose="020B0609040504020204" pitchFamily="49" charset="0"/>
              </a:rPr>
              <a:t>numVars</a:t>
            </a:r>
            <a:r>
              <a:rPr lang="en-US" sz="1800" dirty="0">
                <a:latin typeface="Lucida Console" panose="020B0609040504020204" pitchFamily="49" charset="0"/>
              </a:rPr>
              <a:t> = NULL,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</a:t>
            </a:r>
            <a:r>
              <a:rPr lang="en-US" sz="1800" dirty="0" err="1">
                <a:latin typeface="Lucida Console" panose="020B0609040504020204" pitchFamily="49" charset="0"/>
              </a:rPr>
              <a:t>pramVars</a:t>
            </a:r>
            <a:r>
              <a:rPr lang="en-US" sz="1800" dirty="0">
                <a:latin typeface="Lucida Console" panose="020B0609040504020204" pitchFamily="49" charset="0"/>
              </a:rPr>
              <a:t> = NULL,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</a:t>
            </a:r>
            <a:r>
              <a:rPr lang="en-US" sz="1800" dirty="0" err="1">
                <a:latin typeface="Lucida Console" panose="020B0609040504020204" pitchFamily="49" charset="0"/>
              </a:rPr>
              <a:t>ghostVars</a:t>
            </a:r>
            <a:r>
              <a:rPr lang="en-US" sz="1800" dirty="0">
                <a:latin typeface="Lucida Console" panose="020B0609040504020204" pitchFamily="49" charset="0"/>
              </a:rPr>
              <a:t> = NULL,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</a:t>
            </a:r>
            <a:r>
              <a:rPr lang="en-US" sz="1800" dirty="0" err="1">
                <a:latin typeface="Lucida Console" panose="020B0609040504020204" pitchFamily="49" charset="0"/>
              </a:rPr>
              <a:t>weightVar</a:t>
            </a:r>
            <a:r>
              <a:rPr lang="en-US" sz="1800" dirty="0">
                <a:latin typeface="Lucida Console" panose="020B0609040504020204" pitchFamily="49" charset="0"/>
              </a:rPr>
              <a:t> = NULL,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</a:t>
            </a:r>
            <a:r>
              <a:rPr lang="en-US" sz="1800" dirty="0" err="1">
                <a:latin typeface="Lucida Console" panose="020B0609040504020204" pitchFamily="49" charset="0"/>
              </a:rPr>
              <a:t>hhId</a:t>
            </a:r>
            <a:r>
              <a:rPr lang="en-US" sz="1800" dirty="0">
                <a:latin typeface="Lucida Console" panose="020B0609040504020204" pitchFamily="49" charset="0"/>
              </a:rPr>
              <a:t> = NULL,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</a:t>
            </a:r>
            <a:r>
              <a:rPr lang="en-US" sz="1800" dirty="0" err="1">
                <a:latin typeface="Lucida Console" panose="020B0609040504020204" pitchFamily="49" charset="0"/>
              </a:rPr>
              <a:t>strataVar</a:t>
            </a:r>
            <a:r>
              <a:rPr lang="en-US" sz="1800" dirty="0">
                <a:latin typeface="Lucida Console" panose="020B0609040504020204" pitchFamily="49" charset="0"/>
              </a:rPr>
              <a:t> = NULL,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</a:t>
            </a:r>
            <a:r>
              <a:rPr lang="en-US" sz="1800" dirty="0" err="1">
                <a:latin typeface="Lucida Console" panose="020B0609040504020204" pitchFamily="49" charset="0"/>
              </a:rPr>
              <a:t>sensibleVar</a:t>
            </a:r>
            <a:r>
              <a:rPr lang="en-US" sz="1800" dirty="0">
                <a:latin typeface="Lucida Console" panose="020B0609040504020204" pitchFamily="49" charset="0"/>
              </a:rPr>
              <a:t> = NULL,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</a:t>
            </a:r>
            <a:r>
              <a:rPr lang="en-US" sz="1800" dirty="0" err="1">
                <a:latin typeface="Lucida Console" panose="020B0609040504020204" pitchFamily="49" charset="0"/>
              </a:rPr>
              <a:t>excludeVars</a:t>
            </a:r>
            <a:r>
              <a:rPr lang="en-US" sz="1800" dirty="0">
                <a:latin typeface="Lucida Console" panose="020B0609040504020204" pitchFamily="49" charset="0"/>
              </a:rPr>
              <a:t> = NULL,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options = NULL,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seed = NULL,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</a:t>
            </a:r>
            <a:r>
              <a:rPr lang="en-US" sz="1800" dirty="0" err="1">
                <a:latin typeface="Lucida Console" panose="020B0609040504020204" pitchFamily="49" charset="0"/>
              </a:rPr>
              <a:t>randomizeRecords</a:t>
            </a:r>
            <a:r>
              <a:rPr lang="en-US" sz="1800" dirty="0">
                <a:latin typeface="Lucida Console" panose="020B0609040504020204" pitchFamily="49" charset="0"/>
              </a:rPr>
              <a:t> = FALSE,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  alpha = 1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endParaRPr lang="en-US" sz="1600" dirty="0">
              <a:latin typeface="Lucida Console" panose="020B060904050402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5D491B-567A-6348-2F38-32D55DFAA388}"/>
              </a:ext>
            </a:extLst>
          </p:cNvPr>
          <p:cNvSpPr txBox="1">
            <a:spLocks/>
          </p:cNvSpPr>
          <p:nvPr/>
        </p:nvSpPr>
        <p:spPr>
          <a:xfrm>
            <a:off x="4902609" y="1862174"/>
            <a:ext cx="6533330" cy="3978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11" indent="-228611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1pPr>
            <a:lvl2pPr marL="396079" indent="-144029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◦"/>
              <a:defRPr sz="18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2pPr>
            <a:lvl3pPr marL="522104" indent="-108022" algn="l" defTabSz="914446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Font typeface="Open Sans" panose="020B0606030504020204" pitchFamily="34" charset="0"/>
              <a:buChar char="­"/>
              <a:defRPr sz="1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3pPr>
            <a:lvl4pPr marL="666133" indent="-99020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5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4pPr>
            <a:lvl5pPr marL="774155" indent="-90018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400" b="1" dirty="0" err="1"/>
              <a:t>dat</a:t>
            </a:r>
            <a:r>
              <a:rPr lang="en-US" sz="2400" dirty="0"/>
              <a:t>: original dataset to anonymize</a:t>
            </a:r>
          </a:p>
          <a:p>
            <a:pPr lvl="1"/>
            <a:r>
              <a:rPr lang="en-US" sz="2400" b="1" dirty="0" err="1"/>
              <a:t>keyVars</a:t>
            </a:r>
            <a:r>
              <a:rPr lang="en-US" sz="2400" dirty="0"/>
              <a:t>: (categorical) key variables</a:t>
            </a:r>
          </a:p>
          <a:p>
            <a:pPr lvl="1"/>
            <a:r>
              <a:rPr lang="en-US" sz="2400" b="1" dirty="0" err="1"/>
              <a:t>weigthVar</a:t>
            </a:r>
            <a:r>
              <a:rPr lang="en-US" sz="2400" dirty="0"/>
              <a:t>: weight variable</a:t>
            </a:r>
          </a:p>
          <a:p>
            <a:pPr lvl="1"/>
            <a:r>
              <a:rPr lang="en-US" sz="2400" b="1" dirty="0" err="1"/>
              <a:t>sensibleVar</a:t>
            </a:r>
            <a:r>
              <a:rPr lang="en-US" sz="2400" dirty="0"/>
              <a:t>: sensitive variables</a:t>
            </a:r>
          </a:p>
          <a:p>
            <a:pPr lvl="1"/>
            <a:r>
              <a:rPr lang="en-US" sz="2400" b="1" dirty="0" err="1"/>
              <a:t>excludeVars</a:t>
            </a:r>
            <a:r>
              <a:rPr lang="en-US" sz="2400" dirty="0"/>
              <a:t>: variables to exclude from process and output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177EC3-2506-6BE1-7F38-6342C32E2ACD}"/>
              </a:ext>
            </a:extLst>
          </p:cNvPr>
          <p:cNvCxnSpPr>
            <a:cxnSpLocks/>
          </p:cNvCxnSpPr>
          <p:nvPr/>
        </p:nvCxnSpPr>
        <p:spPr>
          <a:xfrm flipH="1" flipV="1">
            <a:off x="2567166" y="2518267"/>
            <a:ext cx="2610476" cy="31993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962527-C4CD-C684-BA22-E245428C85F4}"/>
              </a:ext>
            </a:extLst>
          </p:cNvPr>
          <p:cNvCxnSpPr>
            <a:cxnSpLocks/>
          </p:cNvCxnSpPr>
          <p:nvPr/>
        </p:nvCxnSpPr>
        <p:spPr>
          <a:xfrm flipH="1" flipV="1">
            <a:off x="1995055" y="2175979"/>
            <a:ext cx="3182587" cy="4470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04C140-DD12-48C4-AC1D-3E972102694C}"/>
              </a:ext>
            </a:extLst>
          </p:cNvPr>
          <p:cNvCxnSpPr>
            <a:cxnSpLocks/>
          </p:cNvCxnSpPr>
          <p:nvPr/>
        </p:nvCxnSpPr>
        <p:spPr>
          <a:xfrm flipH="1">
            <a:off x="3794516" y="3464533"/>
            <a:ext cx="1383126" cy="26152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44674D-61A0-938D-5B39-A1C807D2ACB5}"/>
              </a:ext>
            </a:extLst>
          </p:cNvPr>
          <p:cNvCxnSpPr>
            <a:cxnSpLocks/>
          </p:cNvCxnSpPr>
          <p:nvPr/>
        </p:nvCxnSpPr>
        <p:spPr>
          <a:xfrm flipH="1">
            <a:off x="3994999" y="4103061"/>
            <a:ext cx="1182643" cy="53739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729F682-6DC7-E31D-2C8E-A75DF5A7EB70}"/>
              </a:ext>
            </a:extLst>
          </p:cNvPr>
          <p:cNvCxnSpPr>
            <a:cxnSpLocks/>
          </p:cNvCxnSpPr>
          <p:nvPr/>
        </p:nvCxnSpPr>
        <p:spPr>
          <a:xfrm flipH="1">
            <a:off x="4043897" y="4726432"/>
            <a:ext cx="1133745" cy="24653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1C01D491-CE3A-61EC-0770-7CFBB15DE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359" y="551048"/>
            <a:ext cx="10132582" cy="785383"/>
          </a:xfrm>
        </p:spPr>
        <p:txBody>
          <a:bodyPr/>
          <a:lstStyle/>
          <a:p>
            <a:r>
              <a:rPr lang="en-US" dirty="0"/>
              <a:t>Create Initial </a:t>
            </a:r>
            <a:r>
              <a:rPr lang="en-US" dirty="0" err="1"/>
              <a:t>sdcMicroObj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18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7F7B2-7685-BAFC-0934-E7B128D2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D331-AE8B-04BF-A0E8-4830678CD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359" y="551048"/>
            <a:ext cx="10216579" cy="1311128"/>
          </a:xfrm>
        </p:spPr>
        <p:txBody>
          <a:bodyPr/>
          <a:lstStyle/>
          <a:p>
            <a:r>
              <a:rPr lang="en-US" dirty="0"/>
              <a:t>Persons Dataset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47621F-945B-0219-74A6-111D434D2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91793"/>
              </p:ext>
            </p:extLst>
          </p:nvPr>
        </p:nvGraphicFramePr>
        <p:xfrm>
          <a:off x="2058282" y="3910709"/>
          <a:ext cx="694975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993">
                  <a:extLst>
                    <a:ext uri="{9D8B030D-6E8A-4147-A177-3AD203B41FA5}">
                      <a16:colId xmlns:a16="http://schemas.microsoft.com/office/drawing/2014/main" val="292953442"/>
                    </a:ext>
                  </a:extLst>
                </a:gridCol>
                <a:gridCol w="1075055">
                  <a:extLst>
                    <a:ext uri="{9D8B030D-6E8A-4147-A177-3AD203B41FA5}">
                      <a16:colId xmlns:a16="http://schemas.microsoft.com/office/drawing/2014/main" val="1994529586"/>
                    </a:ext>
                  </a:extLst>
                </a:gridCol>
                <a:gridCol w="1419543">
                  <a:extLst>
                    <a:ext uri="{9D8B030D-6E8A-4147-A177-3AD203B41FA5}">
                      <a16:colId xmlns:a16="http://schemas.microsoft.com/office/drawing/2014/main" val="21673056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6458639"/>
                    </a:ext>
                  </a:extLst>
                </a:gridCol>
                <a:gridCol w="1086168">
                  <a:extLst>
                    <a:ext uri="{9D8B030D-6E8A-4147-A177-3AD203B41FA5}">
                      <a16:colId xmlns:a16="http://schemas.microsoft.com/office/drawing/2014/main" val="222885147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9550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Person_id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Birth_year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075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438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473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553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546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032033"/>
                  </a:ext>
                </a:extLst>
              </a:tr>
            </a:tbl>
          </a:graphicData>
        </a:graphic>
      </p:graphicFrame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6299F660-5EC1-FE70-641B-F05801DD76D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73989" y="2667893"/>
            <a:ext cx="2491734" cy="667268"/>
          </a:xfrm>
        </p:spPr>
        <p:txBody>
          <a:bodyPr/>
          <a:lstStyle/>
          <a:p>
            <a:pPr marL="0" indent="0">
              <a:buNone/>
            </a:pPr>
            <a:r>
              <a:rPr lang="nb-NO" dirty="0"/>
              <a:t>Direct </a:t>
            </a:r>
            <a:r>
              <a:rPr lang="nb-NO" dirty="0" err="1"/>
              <a:t>identifier</a:t>
            </a:r>
            <a:endParaRPr lang="nb-NO" dirty="0"/>
          </a:p>
          <a:p>
            <a:pPr marL="0" indent="0">
              <a:buNone/>
            </a:pPr>
            <a:endParaRPr lang="nb-NO" dirty="0"/>
          </a:p>
        </p:txBody>
      </p:sp>
      <p:sp>
        <p:nvSpPr>
          <p:cNvPr id="7" name="Plassholder for innhold 4">
            <a:extLst>
              <a:ext uri="{FF2B5EF4-FFF2-40B4-BE49-F238E27FC236}">
                <a16:creationId xmlns:a16="http://schemas.microsoft.com/office/drawing/2014/main" id="{40EB544D-B5F2-0F62-C028-5ACA1F2D5913}"/>
              </a:ext>
            </a:extLst>
          </p:cNvPr>
          <p:cNvSpPr txBox="1">
            <a:spLocks/>
          </p:cNvSpPr>
          <p:nvPr/>
        </p:nvSpPr>
        <p:spPr>
          <a:xfrm>
            <a:off x="3601844" y="1878903"/>
            <a:ext cx="2824279" cy="6672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11" indent="-228611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1pPr>
            <a:lvl2pPr marL="396079" indent="-144029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◦"/>
              <a:defRPr sz="18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2pPr>
            <a:lvl3pPr marL="522104" indent="-108022" algn="l" defTabSz="914446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Font typeface="Open Sans" panose="020B0606030504020204" pitchFamily="34" charset="0"/>
              <a:buChar char="­"/>
              <a:defRPr sz="1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3pPr>
            <a:lvl4pPr marL="666133" indent="-99020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5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4pPr>
            <a:lvl5pPr marL="774155" indent="-90018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nb-NO" dirty="0"/>
              <a:t>Key variables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nb-NO" dirty="0"/>
              <a:t>(</a:t>
            </a:r>
            <a:r>
              <a:rPr lang="nb-NO" dirty="0" err="1"/>
              <a:t>Quasi-identifiers</a:t>
            </a:r>
            <a:r>
              <a:rPr lang="nb-NO" dirty="0"/>
              <a:t>)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None/>
            </a:pPr>
            <a:endParaRPr lang="nb-NO" dirty="0"/>
          </a:p>
        </p:txBody>
      </p:sp>
      <p:sp>
        <p:nvSpPr>
          <p:cNvPr id="8" name="Plassholder for innhold 4">
            <a:extLst>
              <a:ext uri="{FF2B5EF4-FFF2-40B4-BE49-F238E27FC236}">
                <a16:creationId xmlns:a16="http://schemas.microsoft.com/office/drawing/2014/main" id="{53ABC913-BE26-99F5-700E-8EC41FF42964}"/>
              </a:ext>
            </a:extLst>
          </p:cNvPr>
          <p:cNvSpPr txBox="1">
            <a:spLocks/>
          </p:cNvSpPr>
          <p:nvPr/>
        </p:nvSpPr>
        <p:spPr>
          <a:xfrm>
            <a:off x="6454267" y="2231231"/>
            <a:ext cx="2700883" cy="6672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11" indent="-228611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1pPr>
            <a:lvl2pPr marL="396079" indent="-144029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◦"/>
              <a:defRPr sz="18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2pPr>
            <a:lvl3pPr marL="522104" indent="-108022" algn="l" defTabSz="914446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Font typeface="Open Sans" panose="020B0606030504020204" pitchFamily="34" charset="0"/>
              <a:buChar char="­"/>
              <a:defRPr sz="1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3pPr>
            <a:lvl4pPr marL="666133" indent="-99020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5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4pPr>
            <a:lvl5pPr marL="774155" indent="-90018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Sensitive variable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b-NO" dirty="0"/>
          </a:p>
        </p:txBody>
      </p:sp>
      <p:sp>
        <p:nvSpPr>
          <p:cNvPr id="9" name="Plassholder for innhold 4">
            <a:extLst>
              <a:ext uri="{FF2B5EF4-FFF2-40B4-BE49-F238E27FC236}">
                <a16:creationId xmlns:a16="http://schemas.microsoft.com/office/drawing/2014/main" id="{77DAF9E3-42C4-128D-98F7-5AEB12EBCCA3}"/>
              </a:ext>
            </a:extLst>
          </p:cNvPr>
          <p:cNvSpPr txBox="1">
            <a:spLocks/>
          </p:cNvSpPr>
          <p:nvPr/>
        </p:nvSpPr>
        <p:spPr>
          <a:xfrm>
            <a:off x="9008041" y="2667893"/>
            <a:ext cx="2597308" cy="6672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11" indent="-228611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1pPr>
            <a:lvl2pPr marL="396079" indent="-144029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◦"/>
              <a:defRPr sz="18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2pPr>
            <a:lvl3pPr marL="522104" indent="-108022" algn="l" defTabSz="914446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Font typeface="Open Sans" panose="020B0606030504020204" pitchFamily="34" charset="0"/>
              <a:buChar char="­"/>
              <a:defRPr sz="1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3pPr>
            <a:lvl4pPr marL="666133" indent="-99020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5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4pPr>
            <a:lvl5pPr marL="774155" indent="-90018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dirty="0" err="1"/>
              <a:t>Weight</a:t>
            </a:r>
            <a:r>
              <a:rPr lang="nb-NO" dirty="0"/>
              <a:t> variable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b-NO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2180C6-71A9-41FA-8AB3-6E17014B2083}"/>
              </a:ext>
            </a:extLst>
          </p:cNvPr>
          <p:cNvCxnSpPr>
            <a:cxnSpLocks/>
          </p:cNvCxnSpPr>
          <p:nvPr/>
        </p:nvCxnSpPr>
        <p:spPr>
          <a:xfrm>
            <a:off x="2297151" y="3248737"/>
            <a:ext cx="356839" cy="66197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0EDA75-096A-46C4-169E-B10F923218F1}"/>
              </a:ext>
            </a:extLst>
          </p:cNvPr>
          <p:cNvCxnSpPr>
            <a:cxnSpLocks/>
          </p:cNvCxnSpPr>
          <p:nvPr/>
        </p:nvCxnSpPr>
        <p:spPr>
          <a:xfrm flipH="1">
            <a:off x="4211428" y="2802688"/>
            <a:ext cx="622844" cy="108876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C9C655-25FD-6247-AC76-8991CFD7389C}"/>
              </a:ext>
            </a:extLst>
          </p:cNvPr>
          <p:cNvCxnSpPr>
            <a:cxnSpLocks/>
          </p:cNvCxnSpPr>
          <p:nvPr/>
        </p:nvCxnSpPr>
        <p:spPr>
          <a:xfrm>
            <a:off x="5006897" y="2847293"/>
            <a:ext cx="138827" cy="104416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4E051E-4B69-50C0-3BA3-3A7BDBD70AD0}"/>
              </a:ext>
            </a:extLst>
          </p:cNvPr>
          <p:cNvCxnSpPr>
            <a:cxnSpLocks/>
          </p:cNvCxnSpPr>
          <p:nvPr/>
        </p:nvCxnSpPr>
        <p:spPr>
          <a:xfrm>
            <a:off x="5145724" y="2802688"/>
            <a:ext cx="985200" cy="108876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1EE5CE8-0CA3-60EF-997D-A06CCDE2A7BE}"/>
              </a:ext>
            </a:extLst>
          </p:cNvPr>
          <p:cNvCxnSpPr>
            <a:cxnSpLocks/>
          </p:cNvCxnSpPr>
          <p:nvPr/>
        </p:nvCxnSpPr>
        <p:spPr>
          <a:xfrm flipH="1">
            <a:off x="7399997" y="2802688"/>
            <a:ext cx="193983" cy="108816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068BBEC-1D3F-DBE4-EBDC-8DB94A000454}"/>
              </a:ext>
            </a:extLst>
          </p:cNvPr>
          <p:cNvCxnSpPr>
            <a:cxnSpLocks/>
          </p:cNvCxnSpPr>
          <p:nvPr/>
        </p:nvCxnSpPr>
        <p:spPr>
          <a:xfrm flipH="1">
            <a:off x="8709741" y="3248737"/>
            <a:ext cx="445409" cy="64181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11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1864-AB72-52CF-CB49-2C57C7FA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4A5C-5146-F47D-7112-64B57CC9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359" y="551048"/>
            <a:ext cx="10240329" cy="1311128"/>
          </a:xfrm>
        </p:spPr>
        <p:txBody>
          <a:bodyPr/>
          <a:lstStyle/>
          <a:p>
            <a:r>
              <a:rPr lang="en-US" dirty="0"/>
              <a:t>Create Initial </a:t>
            </a:r>
            <a:r>
              <a:rPr lang="en-US" dirty="0" err="1"/>
              <a:t>sdcMicroObj</a:t>
            </a:r>
            <a:r>
              <a:rPr lang="en-US" dirty="0"/>
              <a:t> –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F0219-8EE7-DC8F-D893-CFBC540914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19359" y="1862176"/>
            <a:ext cx="10716392" cy="398048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load(file = “data/</a:t>
            </a:r>
            <a:r>
              <a:rPr lang="en-US" dirty="0" err="1">
                <a:latin typeface="Lucida Console" panose="020B0609040504020204" pitchFamily="49" charset="0"/>
              </a:rPr>
              <a:t>persons.Rdata</a:t>
            </a:r>
            <a:r>
              <a:rPr lang="en-US" dirty="0">
                <a:latin typeface="Lucida Console" panose="020B0609040504020204" pitchFamily="49" charset="0"/>
              </a:rPr>
              <a:t>”)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sdc_0 &lt;- </a:t>
            </a:r>
            <a:r>
              <a:rPr lang="en-US" dirty="0" err="1">
                <a:latin typeface="Lucida Console" panose="020B0609040504020204" pitchFamily="49" charset="0"/>
              </a:rPr>
              <a:t>createSdcObj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latin typeface="Lucida Console" panose="020B0609040504020204" pitchFamily="49" charset="0"/>
              </a:rPr>
              <a:t>dat</a:t>
            </a:r>
            <a:r>
              <a:rPr lang="en-US" dirty="0">
                <a:latin typeface="Lucida Console" panose="020B0609040504020204" pitchFamily="49" charset="0"/>
              </a:rPr>
              <a:t> = persons,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latin typeface="Lucida Console" panose="020B0609040504020204" pitchFamily="49" charset="0"/>
              </a:rPr>
              <a:t>excludeVars</a:t>
            </a:r>
            <a:r>
              <a:rPr lang="en-US" dirty="0">
                <a:latin typeface="Lucida Console" panose="020B0609040504020204" pitchFamily="49" charset="0"/>
              </a:rPr>
              <a:t> = c("</a:t>
            </a:r>
            <a:r>
              <a:rPr lang="en-US" dirty="0" err="1">
                <a:latin typeface="Lucida Console" panose="020B0609040504020204" pitchFamily="49" charset="0"/>
              </a:rPr>
              <a:t>Person_id</a:t>
            </a:r>
            <a:r>
              <a:rPr lang="en-US" dirty="0">
                <a:latin typeface="Lucida Console" panose="020B0609040504020204" pitchFamily="49" charset="0"/>
              </a:rPr>
              <a:t>"),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latin typeface="Lucida Console" panose="020B0609040504020204" pitchFamily="49" charset="0"/>
              </a:rPr>
              <a:t>keyVars</a:t>
            </a:r>
            <a:r>
              <a:rPr lang="en-US" dirty="0">
                <a:latin typeface="Lucida Console" panose="020B0609040504020204" pitchFamily="49" charset="0"/>
              </a:rPr>
              <a:t> = c("Gender", "</a:t>
            </a:r>
            <a:r>
              <a:rPr lang="en-US" dirty="0" err="1">
                <a:latin typeface="Lucida Console" panose="020B0609040504020204" pitchFamily="49" charset="0"/>
              </a:rPr>
              <a:t>Birth_year</a:t>
            </a:r>
            <a:r>
              <a:rPr lang="en-US" dirty="0">
                <a:latin typeface="Lucida Console" panose="020B0609040504020204" pitchFamily="49" charset="0"/>
              </a:rPr>
              <a:t>", ”Region"),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latin typeface="Lucida Console" panose="020B0609040504020204" pitchFamily="49" charset="0"/>
              </a:rPr>
              <a:t>sensibleVar</a:t>
            </a:r>
            <a:r>
              <a:rPr lang="en-US" dirty="0">
                <a:latin typeface="Lucida Console" panose="020B0609040504020204" pitchFamily="49" charset="0"/>
              </a:rPr>
              <a:t> = c("Income"),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latin typeface="Lucida Console" panose="020B0609040504020204" pitchFamily="49" charset="0"/>
              </a:rPr>
              <a:t>weightVar</a:t>
            </a:r>
            <a:r>
              <a:rPr lang="en-US" dirty="0">
                <a:latin typeface="Lucida Console" panose="020B0609040504020204" pitchFamily="49" charset="0"/>
              </a:rPr>
              <a:t> = ”Weight"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0635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F2997-DA66-C416-077D-FA4EC511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E8B5-71C6-1033-3731-9FAAFFCF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359" y="551048"/>
            <a:ext cx="9651619" cy="75281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sdcMicroObj</a:t>
            </a:r>
            <a:r>
              <a:rPr lang="en-US" dirty="0"/>
              <a:t> – Slots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65414-AA66-A718-F433-F97BFB979F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50855" y="1439569"/>
            <a:ext cx="11941145" cy="397886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Lucida Console" panose="020B0609040504020204" pitchFamily="49" charset="0"/>
              </a:rPr>
              <a:t>&gt; </a:t>
            </a:r>
            <a:r>
              <a:rPr lang="en-US" sz="1600" dirty="0" err="1">
                <a:latin typeface="Lucida Console" panose="020B0609040504020204" pitchFamily="49" charset="0"/>
              </a:rPr>
              <a:t>slotNames</a:t>
            </a:r>
            <a:r>
              <a:rPr lang="en-US" sz="1600" dirty="0">
                <a:latin typeface="Lucida Console" panose="020B0609040504020204" pitchFamily="49" charset="0"/>
              </a:rPr>
              <a:t>(sdc_0)</a:t>
            </a:r>
          </a:p>
          <a:p>
            <a:pPr marL="0" indent="0">
              <a:buNone/>
            </a:pPr>
            <a:r>
              <a:rPr lang="en-US" sz="1600" dirty="0">
                <a:latin typeface="Lucida Console" panose="020B0609040504020204" pitchFamily="49" charset="0"/>
              </a:rPr>
              <a:t>"</a:t>
            </a:r>
            <a:r>
              <a:rPr lang="en-US" sz="1600" dirty="0" err="1">
                <a:latin typeface="Lucida Console" panose="020B0609040504020204" pitchFamily="49" charset="0"/>
              </a:rPr>
              <a:t>origData</a:t>
            </a:r>
            <a:r>
              <a:rPr lang="en-US" sz="1600" dirty="0">
                <a:latin typeface="Lucida Console" panose="020B0609040504020204" pitchFamily="49" charset="0"/>
              </a:rPr>
              <a:t>"          "</a:t>
            </a:r>
            <a:r>
              <a:rPr lang="en-US" sz="1600" dirty="0" err="1">
                <a:latin typeface="Lucida Console" panose="020B0609040504020204" pitchFamily="49" charset="0"/>
              </a:rPr>
              <a:t>keyVars</a:t>
            </a:r>
            <a:r>
              <a:rPr lang="en-US" sz="1600" dirty="0">
                <a:latin typeface="Lucida Console" panose="020B0609040504020204" pitchFamily="49" charset="0"/>
              </a:rPr>
              <a:t>"           "</a:t>
            </a:r>
            <a:r>
              <a:rPr lang="en-US" sz="1600" dirty="0" err="1">
                <a:latin typeface="Lucida Console" panose="020B0609040504020204" pitchFamily="49" charset="0"/>
              </a:rPr>
              <a:t>pramVars</a:t>
            </a:r>
            <a:r>
              <a:rPr lang="en-US" sz="1600" dirty="0">
                <a:latin typeface="Lucida Console" panose="020B0609040504020204" pitchFamily="49" charset="0"/>
              </a:rPr>
              <a:t>"          "</a:t>
            </a:r>
            <a:r>
              <a:rPr lang="en-US" sz="1600" dirty="0" err="1">
                <a:latin typeface="Lucida Console" panose="020B0609040504020204" pitchFamily="49" charset="0"/>
              </a:rPr>
              <a:t>numVars</a:t>
            </a:r>
            <a:r>
              <a:rPr lang="en-US" sz="1600" dirty="0">
                <a:latin typeface="Lucida Console" panose="020B0609040504020204" pitchFamily="49" charset="0"/>
              </a:rPr>
              <a:t>"           "</a:t>
            </a:r>
            <a:r>
              <a:rPr lang="en-US" sz="1600" dirty="0" err="1">
                <a:latin typeface="Lucida Console" panose="020B0609040504020204" pitchFamily="49" charset="0"/>
              </a:rPr>
              <a:t>ghostVars</a:t>
            </a:r>
            <a:r>
              <a:rPr lang="en-US" sz="1600" dirty="0">
                <a:latin typeface="Lucida Console" panose="020B0609040504020204" pitchFamily="49" charset="0"/>
              </a:rPr>
              <a:t>"</a:t>
            </a:r>
          </a:p>
          <a:p>
            <a:pPr marL="0" indent="0">
              <a:buNone/>
            </a:pPr>
            <a:r>
              <a:rPr lang="en-US" sz="1600" dirty="0">
                <a:latin typeface="Lucida Console" panose="020B0609040504020204" pitchFamily="49" charset="0"/>
              </a:rPr>
              <a:t>"</a:t>
            </a:r>
            <a:r>
              <a:rPr lang="en-US" sz="1600" dirty="0" err="1">
                <a:latin typeface="Lucida Console" panose="020B0609040504020204" pitchFamily="49" charset="0"/>
              </a:rPr>
              <a:t>weightVar</a:t>
            </a:r>
            <a:r>
              <a:rPr lang="en-US" sz="1600" dirty="0">
                <a:latin typeface="Lucida Console" panose="020B0609040504020204" pitchFamily="49" charset="0"/>
              </a:rPr>
              <a:t>"         "</a:t>
            </a:r>
            <a:r>
              <a:rPr lang="en-US" sz="1600" dirty="0" err="1">
                <a:latin typeface="Lucida Console" panose="020B0609040504020204" pitchFamily="49" charset="0"/>
              </a:rPr>
              <a:t>hhId</a:t>
            </a:r>
            <a:r>
              <a:rPr lang="en-US" sz="1600" dirty="0">
                <a:latin typeface="Lucida Console" panose="020B0609040504020204" pitchFamily="49" charset="0"/>
              </a:rPr>
              <a:t>"              "</a:t>
            </a:r>
            <a:r>
              <a:rPr lang="en-US" sz="1600" dirty="0" err="1">
                <a:latin typeface="Lucida Console" panose="020B0609040504020204" pitchFamily="49" charset="0"/>
              </a:rPr>
              <a:t>strataVar</a:t>
            </a:r>
            <a:r>
              <a:rPr lang="en-US" sz="1600" dirty="0">
                <a:latin typeface="Lucida Console" panose="020B0609040504020204" pitchFamily="49" charset="0"/>
              </a:rPr>
              <a:t>"         "</a:t>
            </a:r>
            <a:r>
              <a:rPr lang="en-US" sz="1600" dirty="0" err="1">
                <a:latin typeface="Lucida Console" panose="020B0609040504020204" pitchFamily="49" charset="0"/>
              </a:rPr>
              <a:t>sensibleVar</a:t>
            </a:r>
            <a:r>
              <a:rPr lang="en-US" sz="1600" dirty="0">
                <a:latin typeface="Lucida Console" panose="020B0609040504020204" pitchFamily="49" charset="0"/>
              </a:rPr>
              <a:t>"       "</a:t>
            </a:r>
            <a:r>
              <a:rPr lang="en-US" sz="1600" dirty="0" err="1">
                <a:latin typeface="Lucida Console" panose="020B0609040504020204" pitchFamily="49" charset="0"/>
              </a:rPr>
              <a:t>manipKeyVars</a:t>
            </a:r>
            <a:r>
              <a:rPr lang="en-US" sz="1600" dirty="0">
                <a:latin typeface="Lucida Console" panose="020B0609040504020204" pitchFamily="49" charset="0"/>
              </a:rPr>
              <a:t>"</a:t>
            </a:r>
          </a:p>
          <a:p>
            <a:pPr marL="0" indent="0">
              <a:buNone/>
            </a:pPr>
            <a:r>
              <a:rPr lang="en-US" sz="1600" dirty="0">
                <a:latin typeface="Lucida Console" panose="020B0609040504020204" pitchFamily="49" charset="0"/>
              </a:rPr>
              <a:t>"</a:t>
            </a:r>
            <a:r>
              <a:rPr lang="en-US" sz="1600" dirty="0" err="1">
                <a:latin typeface="Lucida Console" panose="020B0609040504020204" pitchFamily="49" charset="0"/>
              </a:rPr>
              <a:t>manipPramVars</a:t>
            </a:r>
            <a:r>
              <a:rPr lang="en-US" sz="1600" dirty="0">
                <a:latin typeface="Lucida Console" panose="020B0609040504020204" pitchFamily="49" charset="0"/>
              </a:rPr>
              <a:t>"     "</a:t>
            </a:r>
            <a:r>
              <a:rPr lang="en-US" sz="1600" dirty="0" err="1">
                <a:latin typeface="Lucida Console" panose="020B0609040504020204" pitchFamily="49" charset="0"/>
              </a:rPr>
              <a:t>manipNumVars</a:t>
            </a:r>
            <a:r>
              <a:rPr lang="en-US" sz="1600" dirty="0">
                <a:latin typeface="Lucida Console" panose="020B0609040504020204" pitchFamily="49" charset="0"/>
              </a:rPr>
              <a:t>"      "</a:t>
            </a:r>
            <a:r>
              <a:rPr lang="en-US" sz="1600" dirty="0" err="1">
                <a:latin typeface="Lucida Console" panose="020B0609040504020204" pitchFamily="49" charset="0"/>
              </a:rPr>
              <a:t>manipGhostVars</a:t>
            </a:r>
            <a:r>
              <a:rPr lang="en-US" sz="1600" dirty="0">
                <a:latin typeface="Lucida Console" panose="020B0609040504020204" pitchFamily="49" charset="0"/>
              </a:rPr>
              <a:t>"    "</a:t>
            </a:r>
            <a:r>
              <a:rPr lang="en-US" sz="1600" dirty="0" err="1">
                <a:latin typeface="Lucida Console" panose="020B0609040504020204" pitchFamily="49" charset="0"/>
              </a:rPr>
              <a:t>manipStrataVar</a:t>
            </a:r>
            <a:r>
              <a:rPr lang="en-US" sz="1600" dirty="0">
                <a:latin typeface="Lucida Console" panose="020B0609040504020204" pitchFamily="49" charset="0"/>
              </a:rPr>
              <a:t>"    "</a:t>
            </a:r>
            <a:r>
              <a:rPr lang="en-US" sz="1600" dirty="0" err="1">
                <a:latin typeface="Lucida Console" panose="020B0609040504020204" pitchFamily="49" charset="0"/>
              </a:rPr>
              <a:t>originalRisk</a:t>
            </a:r>
            <a:r>
              <a:rPr lang="en-US" sz="1600" dirty="0">
                <a:latin typeface="Lucida Console" panose="020B0609040504020204" pitchFamily="49" charset="0"/>
              </a:rPr>
              <a:t>"</a:t>
            </a:r>
          </a:p>
          <a:p>
            <a:pPr marL="0" indent="0">
              <a:buNone/>
            </a:pPr>
            <a:r>
              <a:rPr lang="en-US" sz="1600" dirty="0">
                <a:latin typeface="Lucida Console" panose="020B0609040504020204" pitchFamily="49" charset="0"/>
              </a:rPr>
              <a:t>"risk"              "utility"           "pram"              "</a:t>
            </a:r>
            <a:r>
              <a:rPr lang="en-US" sz="1600" dirty="0" err="1">
                <a:latin typeface="Lucida Console" panose="020B0609040504020204" pitchFamily="49" charset="0"/>
              </a:rPr>
              <a:t>localSuppression</a:t>
            </a:r>
            <a:r>
              <a:rPr lang="en-US" sz="1600" dirty="0">
                <a:latin typeface="Lucida Console" panose="020B0609040504020204" pitchFamily="49" charset="0"/>
              </a:rPr>
              <a:t>"  "options"</a:t>
            </a:r>
          </a:p>
          <a:p>
            <a:pPr marL="0" indent="0">
              <a:buNone/>
            </a:pPr>
            <a:r>
              <a:rPr lang="en-US" sz="1600" dirty="0">
                <a:latin typeface="Lucida Console" panose="020B0609040504020204" pitchFamily="49" charset="0"/>
              </a:rPr>
              <a:t>"</a:t>
            </a:r>
            <a:r>
              <a:rPr lang="en-US" sz="1600" dirty="0" err="1">
                <a:latin typeface="Lucida Console" panose="020B0609040504020204" pitchFamily="49" charset="0"/>
              </a:rPr>
              <a:t>additionalResults</a:t>
            </a:r>
            <a:r>
              <a:rPr lang="en-US" sz="1600" dirty="0">
                <a:latin typeface="Lucida Console" panose="020B0609040504020204" pitchFamily="49" charset="0"/>
              </a:rPr>
              <a:t>" "set"               "</a:t>
            </a:r>
            <a:r>
              <a:rPr lang="en-US" sz="1600" dirty="0" err="1">
                <a:latin typeface="Lucida Console" panose="020B0609040504020204" pitchFamily="49" charset="0"/>
              </a:rPr>
              <a:t>prev</a:t>
            </a:r>
            <a:r>
              <a:rPr lang="en-US" sz="1600" dirty="0">
                <a:latin typeface="Lucida Console" panose="020B0609040504020204" pitchFamily="49" charset="0"/>
              </a:rPr>
              <a:t>"              "</a:t>
            </a:r>
            <a:r>
              <a:rPr lang="en-US" sz="1600" dirty="0" err="1">
                <a:latin typeface="Lucida Console" panose="020B0609040504020204" pitchFamily="49" charset="0"/>
              </a:rPr>
              <a:t>deletedVars</a:t>
            </a:r>
            <a:r>
              <a:rPr lang="en-US" sz="1600" dirty="0">
                <a:latin typeface="Lucida Console" panose="020B0609040504020204" pitchFamily="49" charset="0"/>
              </a:rPr>
              <a:t>"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Lucida Console" panose="020B0609040504020204" pitchFamily="49" charset="0"/>
              </a:rPr>
              <a:t>sdc_0@origData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Lucida Console" panose="020B0609040504020204" pitchFamily="49" charset="0"/>
              </a:rPr>
              <a:t>sdc_0@deletedVars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Lucida Console" panose="020B0609040504020204" pitchFamily="49" charset="0"/>
              </a:rPr>
              <a:t>sdc_0@risk</a:t>
            </a:r>
          </a:p>
          <a:p>
            <a:pPr marL="0" indent="0">
              <a:buNone/>
            </a:pPr>
            <a:endParaRPr lang="en-US" sz="1600" dirty="0">
              <a:latin typeface="Lucida Console" panose="020B0609040504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7B26BA-60C5-7A68-A1EB-513B5053DFC8}"/>
              </a:ext>
            </a:extLst>
          </p:cNvPr>
          <p:cNvSpPr/>
          <p:nvPr/>
        </p:nvSpPr>
        <p:spPr>
          <a:xfrm>
            <a:off x="327059" y="2068523"/>
            <a:ext cx="1247743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E4D4E-1508-BF9B-8719-53524387080A}"/>
              </a:ext>
            </a:extLst>
          </p:cNvPr>
          <p:cNvSpPr/>
          <p:nvPr/>
        </p:nvSpPr>
        <p:spPr>
          <a:xfrm>
            <a:off x="327060" y="3499636"/>
            <a:ext cx="748210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F8279D-E9B2-2AED-F90F-867E74835A92}"/>
              </a:ext>
            </a:extLst>
          </p:cNvPr>
          <p:cNvSpPr/>
          <p:nvPr/>
        </p:nvSpPr>
        <p:spPr>
          <a:xfrm>
            <a:off x="7676127" y="3979340"/>
            <a:ext cx="1577942" cy="243841"/>
          </a:xfrm>
          <a:prstGeom prst="rect">
            <a:avLst/>
          </a:prstGeom>
          <a:solidFill>
            <a:srgbClr val="1A9D4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874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44150-DED4-C9A4-04A2-149D6D3F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5E5F0-F13C-B1B5-85DE-6303BD53E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359" y="551048"/>
            <a:ext cx="9651619" cy="634285"/>
          </a:xfrm>
        </p:spPr>
        <p:txBody>
          <a:bodyPr>
            <a:normAutofit fontScale="90000"/>
          </a:bodyPr>
          <a:lstStyle/>
          <a:p>
            <a:r>
              <a:rPr lang="en-US" dirty="0"/>
              <a:t>The Risk Slot – </a:t>
            </a:r>
            <a:r>
              <a:rPr lang="en-US" dirty="0">
                <a:latin typeface="Lucida Console" panose="020B0609040504020204" pitchFamily="49" charset="0"/>
              </a:rPr>
              <a:t>sdc_0@risk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11606-F740-D1A8-769B-CF78791321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9543" y="1642042"/>
            <a:ext cx="3811348" cy="422303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$individual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            risk </a:t>
            </a:r>
            <a:r>
              <a:rPr lang="en-US" sz="1800" dirty="0" err="1">
                <a:latin typeface="Lucida Console" panose="020B0609040504020204" pitchFamily="49" charset="0"/>
              </a:rPr>
              <a:t>fk</a:t>
            </a:r>
            <a:r>
              <a:rPr lang="en-US" sz="1800" dirty="0">
                <a:latin typeface="Lucida Console" panose="020B0609040504020204" pitchFamily="49" charset="0"/>
              </a:rPr>
              <a:t>    </a:t>
            </a:r>
            <a:r>
              <a:rPr lang="en-US" sz="1800" dirty="0" err="1">
                <a:latin typeface="Lucida Console" panose="020B0609040504020204" pitchFamily="49" charset="0"/>
              </a:rPr>
              <a:t>Fk</a:t>
            </a:r>
            <a:endParaRPr lang="en-US" sz="18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[1,] 0.017144262  2 110.0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[2,] 0.022042326  2  84.5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[3,] 0.022042326  2  84.5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[4,] 0.177075834  1  17.0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[5,] 0.003581243  2 549.0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[6,] 0.003581243  2 549.0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[7,] 0.402359478  1   5.0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[8,] 0.017144262  2 110.0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4EE912-4ED8-ECE3-647B-7E48A84D13A5}"/>
              </a:ext>
            </a:extLst>
          </p:cNvPr>
          <p:cNvSpPr txBox="1">
            <a:spLocks/>
          </p:cNvSpPr>
          <p:nvPr/>
        </p:nvSpPr>
        <p:spPr>
          <a:xfrm>
            <a:off x="4994756" y="1642041"/>
            <a:ext cx="2768824" cy="42230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11" indent="-228611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1pPr>
            <a:lvl2pPr marL="396079" indent="-144029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◦"/>
              <a:defRPr sz="18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2pPr>
            <a:lvl3pPr marL="522104" indent="-108022" algn="l" defTabSz="914446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Font typeface="Open Sans" panose="020B0606030504020204" pitchFamily="34" charset="0"/>
              <a:buChar char="­"/>
              <a:defRPr sz="1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3pPr>
            <a:lvl4pPr marL="666133" indent="-99020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5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4pPr>
            <a:lvl5pPr marL="774155" indent="-90018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$global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latin typeface="Lucida Console" panose="020B0609040504020204" pitchFamily="49" charset="0"/>
              </a:rPr>
              <a:t>global$risk</a:t>
            </a:r>
            <a:endParaRPr lang="en-US" sz="18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[1] 0.08312137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latin typeface="Lucida Console" panose="020B0609040504020204" pitchFamily="49" charset="0"/>
              </a:rPr>
              <a:t>global$risk_ER</a:t>
            </a:r>
            <a:endParaRPr lang="en-US" sz="18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[1] 0.664971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latin typeface="Lucida Console" panose="020B0609040504020204" pitchFamily="49" charset="0"/>
              </a:rPr>
              <a:t>global$risk_pct</a:t>
            </a:r>
            <a:endParaRPr lang="en-US" sz="18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[1] 8.312137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D91928-4A39-685E-9CD2-A3B1FBC9CE7C}"/>
              </a:ext>
            </a:extLst>
          </p:cNvPr>
          <p:cNvSpPr txBox="1">
            <a:spLocks/>
          </p:cNvSpPr>
          <p:nvPr/>
        </p:nvSpPr>
        <p:spPr>
          <a:xfrm>
            <a:off x="8557445" y="1642041"/>
            <a:ext cx="2768824" cy="42230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11" indent="-228611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1pPr>
            <a:lvl2pPr marL="396079" indent="-144029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◦"/>
              <a:defRPr sz="18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2pPr>
            <a:lvl3pPr marL="522104" indent="-108022" algn="l" defTabSz="914446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Font typeface="Open Sans" panose="020B0606030504020204" pitchFamily="34" charset="0"/>
              <a:buChar char="­"/>
              <a:defRPr sz="1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3pPr>
            <a:lvl4pPr marL="666133" indent="-99020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5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4pPr>
            <a:lvl5pPr marL="774155" indent="-90018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latin typeface="Lucida Console" panose="020B0609040504020204" pitchFamily="49" charset="0"/>
              </a:rPr>
              <a:t>global$threshold</a:t>
            </a:r>
            <a:endParaRPr lang="en-US" sz="18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[1] 0.003581243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$</a:t>
            </a:r>
            <a:r>
              <a:rPr lang="en-US" sz="1800" dirty="0" err="1">
                <a:latin typeface="Lucida Console" panose="020B0609040504020204" pitchFamily="49" charset="0"/>
              </a:rPr>
              <a:t>global$max_risk</a:t>
            </a:r>
            <a:endParaRPr lang="en-US" sz="18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Lucida Console" panose="020B0609040504020204" pitchFamily="49" charset="0"/>
              </a:rPr>
              <a:t>[1] 0.01</a:t>
            </a:r>
          </a:p>
        </p:txBody>
      </p:sp>
    </p:spTree>
    <p:extLst>
      <p:ext uri="{BB962C8B-B14F-4D97-AF65-F5344CB8AC3E}">
        <p14:creationId xmlns:p14="http://schemas.microsoft.com/office/powerpoint/2010/main" val="4238217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F5E35-0EE1-2C86-579F-F8905BBC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21A9EA16-95D6-A50E-5283-39E14B2CF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sz="6000" dirty="0" err="1"/>
              <a:t>Demonstration</a:t>
            </a:r>
            <a:endParaRPr lang="nb-NO" sz="6000" dirty="0"/>
          </a:p>
        </p:txBody>
      </p:sp>
    </p:spTree>
    <p:extLst>
      <p:ext uri="{BB962C8B-B14F-4D97-AF65-F5344CB8AC3E}">
        <p14:creationId xmlns:p14="http://schemas.microsoft.com/office/powerpoint/2010/main" val="3475718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E7A1-3050-94F3-FDDC-C5042FD2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E6784745-6CBE-1AB6-8A9A-A38CE95116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sz="6000" dirty="0" err="1"/>
              <a:t>Exercise</a:t>
            </a:r>
            <a:r>
              <a:rPr lang="nb-NO" sz="6000" dirty="0"/>
              <a:t> 1:</a:t>
            </a:r>
            <a:br>
              <a:rPr lang="nb-NO" sz="6000" dirty="0"/>
            </a:br>
            <a:r>
              <a:rPr lang="nb-NO" sz="6000" dirty="0"/>
              <a:t>1_create_sdc_object.R</a:t>
            </a:r>
            <a:br>
              <a:rPr lang="nb-NO" sz="6000" dirty="0"/>
            </a:br>
            <a:endParaRPr lang="nb-NO" sz="6000" dirty="0"/>
          </a:p>
        </p:txBody>
      </p:sp>
    </p:spTree>
    <p:extLst>
      <p:ext uri="{BB962C8B-B14F-4D97-AF65-F5344CB8AC3E}">
        <p14:creationId xmlns:p14="http://schemas.microsoft.com/office/powerpoint/2010/main" val="418545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608BD-0646-5BD0-DFFC-0A533F79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7F8AA-A270-0148-311C-9BDB280DBD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19359" y="1862176"/>
            <a:ext cx="9651619" cy="444477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Lucida Console" panose="020B0609040504020204" pitchFamily="49" charset="0"/>
              </a:rPr>
              <a:t>groupAndRename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obj,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var,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before,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after,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addNA</a:t>
            </a:r>
            <a:r>
              <a:rPr lang="en-US" dirty="0">
                <a:latin typeface="Lucida Console" panose="020B0609040504020204" pitchFamily="49" charset="0"/>
              </a:rPr>
              <a:t> = FALSE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)</a:t>
            </a:r>
            <a:endParaRPr lang="en-US" b="1" dirty="0">
              <a:latin typeface="Lucida Console" panose="020B0609040504020204" pitchFamily="49" charset="0"/>
            </a:endParaRP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9AC777-45AA-4444-A3FC-73F5457BEE2A}"/>
              </a:ext>
            </a:extLst>
          </p:cNvPr>
          <p:cNvSpPr txBox="1">
            <a:spLocks/>
          </p:cNvSpPr>
          <p:nvPr/>
        </p:nvSpPr>
        <p:spPr>
          <a:xfrm>
            <a:off x="4902608" y="1862174"/>
            <a:ext cx="7289391" cy="3978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11" indent="-228611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1pPr>
            <a:lvl2pPr marL="396079" indent="-144029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◦"/>
              <a:defRPr sz="18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2pPr>
            <a:lvl3pPr marL="522104" indent="-108022" algn="l" defTabSz="914446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Font typeface="Open Sans" panose="020B0606030504020204" pitchFamily="34" charset="0"/>
              <a:buChar char="­"/>
              <a:defRPr sz="1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3pPr>
            <a:lvl4pPr marL="666133" indent="-99020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5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4pPr>
            <a:lvl5pPr marL="774155" indent="-90018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400" b="1" dirty="0"/>
              <a:t>obj</a:t>
            </a:r>
            <a:r>
              <a:rPr lang="en-US" sz="2400" dirty="0"/>
              <a:t>: </a:t>
            </a:r>
            <a:r>
              <a:rPr lang="en-US" sz="2400" dirty="0" err="1"/>
              <a:t>sdcMicroObj</a:t>
            </a:r>
            <a:r>
              <a:rPr lang="en-US" sz="2400" dirty="0"/>
              <a:t> to apply local suppression on</a:t>
            </a:r>
          </a:p>
          <a:p>
            <a:pPr lvl="1"/>
            <a:r>
              <a:rPr lang="en-US" sz="2400" b="1" dirty="0"/>
              <a:t>var</a:t>
            </a:r>
            <a:r>
              <a:rPr lang="en-US" sz="2400" dirty="0"/>
              <a:t>: variable to recode</a:t>
            </a:r>
          </a:p>
          <a:p>
            <a:pPr lvl="1"/>
            <a:r>
              <a:rPr lang="en-US" sz="2400" b="1" dirty="0"/>
              <a:t>before</a:t>
            </a:r>
            <a:r>
              <a:rPr lang="en-US" sz="2400" dirty="0"/>
              <a:t>: list of values to recode from</a:t>
            </a:r>
          </a:p>
          <a:p>
            <a:pPr lvl="1"/>
            <a:r>
              <a:rPr lang="en-US" sz="2400" b="1" dirty="0"/>
              <a:t>after</a:t>
            </a:r>
            <a:r>
              <a:rPr lang="en-US" sz="2400" dirty="0"/>
              <a:t>: value to recode to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3BC663-CE25-C416-E65C-93D0115E78C2}"/>
              </a:ext>
            </a:extLst>
          </p:cNvPr>
          <p:cNvCxnSpPr>
            <a:cxnSpLocks/>
          </p:cNvCxnSpPr>
          <p:nvPr/>
        </p:nvCxnSpPr>
        <p:spPr>
          <a:xfrm flipH="1">
            <a:off x="2217420" y="2220686"/>
            <a:ext cx="2960222" cy="35487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E039F6-924F-2D52-7F51-63C941C7FA96}"/>
              </a:ext>
            </a:extLst>
          </p:cNvPr>
          <p:cNvCxnSpPr>
            <a:cxnSpLocks/>
          </p:cNvCxnSpPr>
          <p:nvPr/>
        </p:nvCxnSpPr>
        <p:spPr>
          <a:xfrm flipH="1">
            <a:off x="2217420" y="2846002"/>
            <a:ext cx="2960222" cy="2172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5F4719-7F1F-D4DB-4BDE-FBA592DA1255}"/>
              </a:ext>
            </a:extLst>
          </p:cNvPr>
          <p:cNvCxnSpPr>
            <a:cxnSpLocks/>
          </p:cNvCxnSpPr>
          <p:nvPr/>
        </p:nvCxnSpPr>
        <p:spPr>
          <a:xfrm flipH="1">
            <a:off x="2781300" y="3469128"/>
            <a:ext cx="2396341" cy="8941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DFDAE9-2130-556A-483F-3A38F477ACF0}"/>
              </a:ext>
            </a:extLst>
          </p:cNvPr>
          <p:cNvCxnSpPr>
            <a:cxnSpLocks/>
          </p:cNvCxnSpPr>
          <p:nvPr/>
        </p:nvCxnSpPr>
        <p:spPr>
          <a:xfrm flipH="1" flipV="1">
            <a:off x="2644140" y="4030980"/>
            <a:ext cx="2533501" cy="6785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1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41943-0928-9E5B-271D-9905DE28E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918F-97E4-1554-3CCC-2896F7804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Suppression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34D14-F9C6-FDFF-AB98-2E0D857D63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19359" y="1862176"/>
            <a:ext cx="10796933" cy="397886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Lucida Console" panose="020B0609040504020204" pitchFamily="49" charset="0"/>
              </a:rPr>
              <a:t>localSuppression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obj,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k = 2,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importance = NULL,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combs = NULL,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 ...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Lucida Console" panose="020B06090405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C92CFC-B9EE-8B13-E23A-7E8251C43A40}"/>
              </a:ext>
            </a:extLst>
          </p:cNvPr>
          <p:cNvSpPr txBox="1">
            <a:spLocks/>
          </p:cNvSpPr>
          <p:nvPr/>
        </p:nvSpPr>
        <p:spPr>
          <a:xfrm>
            <a:off x="4959275" y="1862174"/>
            <a:ext cx="6476664" cy="3978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11" indent="-228611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1pPr>
            <a:lvl2pPr marL="396079" indent="-144029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◦"/>
              <a:defRPr sz="18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2pPr>
            <a:lvl3pPr marL="522104" indent="-108022" algn="l" defTabSz="914446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Font typeface="Open Sans" panose="020B0606030504020204" pitchFamily="34" charset="0"/>
              <a:buChar char="­"/>
              <a:defRPr sz="1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3pPr>
            <a:lvl4pPr marL="666133" indent="-99020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5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4pPr>
            <a:lvl5pPr marL="774155" indent="-90018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400" b="1" dirty="0"/>
              <a:t>obj</a:t>
            </a:r>
            <a:r>
              <a:rPr lang="en-US" sz="2400" dirty="0"/>
              <a:t>: </a:t>
            </a:r>
            <a:r>
              <a:rPr lang="en-US" sz="2400" dirty="0" err="1"/>
              <a:t>sdcMicroObj</a:t>
            </a:r>
            <a:r>
              <a:rPr lang="en-US" sz="2400" dirty="0"/>
              <a:t> to apply recoding on</a:t>
            </a:r>
          </a:p>
          <a:p>
            <a:pPr lvl="1"/>
            <a:r>
              <a:rPr lang="en-US" sz="2400" b="1" dirty="0"/>
              <a:t>k</a:t>
            </a:r>
            <a:r>
              <a:rPr lang="en-US" sz="2400" dirty="0"/>
              <a:t>: target level of anonymity</a:t>
            </a:r>
          </a:p>
          <a:p>
            <a:pPr lvl="1"/>
            <a:r>
              <a:rPr lang="en-US" sz="2400" b="1" dirty="0"/>
              <a:t>importance: </a:t>
            </a:r>
            <a:r>
              <a:rPr lang="en-US" sz="2400" dirty="0"/>
              <a:t>specify variable priority</a:t>
            </a:r>
            <a:r>
              <a:rPr lang="en-US" sz="2400" b="1" dirty="0"/>
              <a:t> </a:t>
            </a:r>
            <a:endParaRPr lang="en-US" sz="2400" dirty="0"/>
          </a:p>
          <a:p>
            <a:pPr lvl="1"/>
            <a:r>
              <a:rPr lang="en-US" sz="2400" b="1" dirty="0"/>
              <a:t>combs</a:t>
            </a:r>
            <a:r>
              <a:rPr lang="en-US" sz="2400" dirty="0"/>
              <a:t>: use to specify subset size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087282-6CE6-FDAA-7988-032F98B68D16}"/>
              </a:ext>
            </a:extLst>
          </p:cNvPr>
          <p:cNvCxnSpPr>
            <a:cxnSpLocks/>
          </p:cNvCxnSpPr>
          <p:nvPr/>
        </p:nvCxnSpPr>
        <p:spPr>
          <a:xfrm flipH="1">
            <a:off x="2268511" y="2220686"/>
            <a:ext cx="2909131" cy="3576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7CA2B5A-7889-9D6F-1AEC-E01F331355EC}"/>
              </a:ext>
            </a:extLst>
          </p:cNvPr>
          <p:cNvCxnSpPr>
            <a:cxnSpLocks/>
          </p:cNvCxnSpPr>
          <p:nvPr/>
        </p:nvCxnSpPr>
        <p:spPr>
          <a:xfrm flipH="1">
            <a:off x="2588302" y="2829261"/>
            <a:ext cx="2589340" cy="20874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2F7B49-B7B2-7F45-8B04-C05BBC003026}"/>
              </a:ext>
            </a:extLst>
          </p:cNvPr>
          <p:cNvCxnSpPr>
            <a:cxnSpLocks/>
          </p:cNvCxnSpPr>
          <p:nvPr/>
        </p:nvCxnSpPr>
        <p:spPr>
          <a:xfrm flipH="1">
            <a:off x="4821836" y="3461273"/>
            <a:ext cx="355806" cy="4642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17380A-3406-58C0-3B0F-42C33B86EA14}"/>
              </a:ext>
            </a:extLst>
          </p:cNvPr>
          <p:cNvCxnSpPr>
            <a:cxnSpLocks/>
          </p:cNvCxnSpPr>
          <p:nvPr/>
        </p:nvCxnSpPr>
        <p:spPr>
          <a:xfrm flipH="1" flipV="1">
            <a:off x="3912433" y="4027357"/>
            <a:ext cx="1265209" cy="7246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78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21704-FCE1-F3DD-4183-1B9D0BCA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0C82-EAF2-DE37-A423-5E559C6E7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391" y="551048"/>
            <a:ext cx="10500588" cy="823935"/>
          </a:xfrm>
        </p:spPr>
        <p:txBody>
          <a:bodyPr/>
          <a:lstStyle/>
          <a:p>
            <a:r>
              <a:rPr lang="en-US" dirty="0"/>
              <a:t>Generate Report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2965AE-4DDE-2F54-7402-B9E9580828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6609" y="1539433"/>
            <a:ext cx="5459392" cy="113431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err="1"/>
              <a:t>sdcMicro</a:t>
            </a:r>
            <a:r>
              <a:rPr lang="en-US" sz="2000" dirty="0"/>
              <a:t> can generate a report about the whole anonymization process</a:t>
            </a:r>
          </a:p>
          <a:p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CA0A63-995A-F73C-394B-D1719844C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23" y="551047"/>
            <a:ext cx="6260946" cy="5421489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0E7B6F82-59E9-3B90-ED77-207E4BF18B07}"/>
              </a:ext>
            </a:extLst>
          </p:cNvPr>
          <p:cNvSpPr txBox="1">
            <a:spLocks/>
          </p:cNvSpPr>
          <p:nvPr/>
        </p:nvSpPr>
        <p:spPr>
          <a:xfrm>
            <a:off x="636609" y="3429000"/>
            <a:ext cx="5459392" cy="2543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11" indent="-228611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1pPr>
            <a:lvl2pPr marL="396079" indent="-144029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◦"/>
              <a:defRPr sz="18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2pPr>
            <a:lvl3pPr marL="522104" indent="-108022" algn="l" defTabSz="914446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Font typeface="Open Sans" panose="020B0606030504020204" pitchFamily="34" charset="0"/>
              <a:buChar char="­"/>
              <a:defRPr sz="1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3pPr>
            <a:lvl4pPr marL="666133" indent="-99020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5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4pPr>
            <a:lvl5pPr marL="774155" indent="-90018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Lucida Console" panose="020B0609040504020204" pitchFamily="49" charset="0"/>
              </a:rPr>
              <a:t>report(sdc_0,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Lucida Console" panose="020B0609040504020204" pitchFamily="49" charset="0"/>
              </a:rPr>
              <a:t>  </a:t>
            </a:r>
            <a:r>
              <a:rPr lang="en-US" sz="2000" dirty="0" err="1">
                <a:latin typeface="Lucida Console" panose="020B0609040504020204" pitchFamily="49" charset="0"/>
              </a:rPr>
              <a:t>outdir</a:t>
            </a:r>
            <a:r>
              <a:rPr lang="en-US" sz="2000" dirty="0">
                <a:latin typeface="Lucida Console" panose="020B0609040504020204" pitchFamily="49" charset="0"/>
              </a:rPr>
              <a:t> = "reports",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Lucida Console" panose="020B0609040504020204" pitchFamily="49" charset="0"/>
              </a:rPr>
              <a:t>  filename = "</a:t>
            </a:r>
            <a:r>
              <a:rPr lang="en-US" sz="2000" dirty="0" err="1">
                <a:latin typeface="Lucida Console" panose="020B0609040504020204" pitchFamily="49" charset="0"/>
              </a:rPr>
              <a:t>demo_report.html</a:t>
            </a:r>
            <a:r>
              <a:rPr lang="en-US" sz="2000" dirty="0">
                <a:latin typeface="Lucida Console" panose="020B0609040504020204" pitchFamily="49" charset="0"/>
              </a:rPr>
              <a:t>”,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Lucida Console" panose="020B0609040504020204" pitchFamily="49" charset="0"/>
              </a:rPr>
              <a:t>  verbose = TRUE,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Lucida Console" panose="020B0609040504020204" pitchFamily="49" charset="0"/>
              </a:rPr>
              <a:t>  internal = TRUE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Lucida Console" panose="020B06090405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07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59003-5614-4993-7376-E90D81E11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6256-F7C2-2241-07C0-932360842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571" y="551048"/>
            <a:ext cx="9852407" cy="823935"/>
          </a:xfrm>
        </p:spPr>
        <p:txBody>
          <a:bodyPr/>
          <a:lstStyle/>
          <a:p>
            <a:r>
              <a:rPr lang="en-US" dirty="0"/>
              <a:t>Extract Data with </a:t>
            </a:r>
            <a:r>
              <a:rPr lang="en-US" dirty="0" err="1">
                <a:latin typeface="Lucida Console" panose="020B0609040504020204" pitchFamily="49" charset="0"/>
              </a:rPr>
              <a:t>extractManipData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2563BC6-8006-4349-74A3-263C3905685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36672" y="1990023"/>
            <a:ext cx="9734307" cy="82393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err="1">
                <a:latin typeface="Lucida Console" panose="020B0609040504020204" pitchFamily="49" charset="0"/>
              </a:rPr>
              <a:t>df_out</a:t>
            </a:r>
            <a:r>
              <a:rPr lang="en-US" sz="2000" dirty="0">
                <a:latin typeface="Lucida Console" panose="020B0609040504020204" pitchFamily="49" charset="0"/>
              </a:rPr>
              <a:t> &lt;- </a:t>
            </a:r>
            <a:r>
              <a:rPr lang="en-US" sz="2000" dirty="0" err="1">
                <a:latin typeface="Lucida Console" panose="020B0609040504020204" pitchFamily="49" charset="0"/>
              </a:rPr>
              <a:t>extractManipData</a:t>
            </a:r>
            <a:r>
              <a:rPr lang="en-US" sz="2000" dirty="0">
                <a:latin typeface="Lucida Console" panose="020B0609040504020204" pitchFamily="49" charset="0"/>
              </a:rPr>
              <a:t>(sdc_5)</a:t>
            </a:r>
          </a:p>
          <a:p>
            <a:pPr marL="0" indent="0">
              <a:buNone/>
            </a:pPr>
            <a:endParaRPr lang="en-US" sz="20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Lucida Console" panose="020B0609040504020204" pitchFamily="49" charset="0"/>
              </a:rPr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148ED4D2-785F-B2FB-0EE6-0489921D3EDC}"/>
              </a:ext>
            </a:extLst>
          </p:cNvPr>
          <p:cNvSpPr txBox="1">
            <a:spLocks/>
          </p:cNvSpPr>
          <p:nvPr/>
        </p:nvSpPr>
        <p:spPr>
          <a:xfrm>
            <a:off x="636609" y="3429000"/>
            <a:ext cx="5459392" cy="2543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11" indent="-228611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1pPr>
            <a:lvl2pPr marL="396079" indent="-144029" algn="l" defTabSz="914446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◦"/>
              <a:defRPr sz="18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2pPr>
            <a:lvl3pPr marL="522104" indent="-108022" algn="l" defTabSz="914446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Font typeface="Open Sans" panose="020B0606030504020204" pitchFamily="34" charset="0"/>
              <a:buChar char="­"/>
              <a:defRPr sz="14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3pPr>
            <a:lvl4pPr marL="666133" indent="-99020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5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4pPr>
            <a:lvl5pPr marL="774155" indent="-90018" algn="l" defTabSz="914446" rtl="0" eaLnBrk="1" latinLnBrk="0" hangingPunct="1">
              <a:lnSpc>
                <a:spcPct val="150000"/>
              </a:lnSpc>
              <a:spcBef>
                <a:spcPts val="250"/>
              </a:spcBef>
              <a:buFont typeface="Open Sans" panose="020B0606030504020204" pitchFamily="34" charset="0"/>
              <a:buChar char="­"/>
              <a:defRPr sz="1000" kern="1200">
                <a:solidFill>
                  <a:srgbClr val="274247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823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97D3E-D7CC-227B-19BE-1292BA577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604FB410-7EE2-91E5-AA29-0FBC094C36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sz="6000" dirty="0" err="1"/>
              <a:t>Exercise</a:t>
            </a:r>
            <a:r>
              <a:rPr lang="nb-NO" sz="6000" dirty="0"/>
              <a:t> 2:</a:t>
            </a:r>
            <a:br>
              <a:rPr lang="nb-NO" sz="6000" dirty="0"/>
            </a:br>
            <a:r>
              <a:rPr lang="nb-NO" sz="6000" dirty="0"/>
              <a:t>2_recode_and_suppress.R</a:t>
            </a:r>
            <a:br>
              <a:rPr lang="nb-NO" sz="6000" dirty="0"/>
            </a:br>
            <a:endParaRPr lang="nb-NO" sz="6000" dirty="0"/>
          </a:p>
        </p:txBody>
      </p:sp>
    </p:spTree>
    <p:extLst>
      <p:ext uri="{BB962C8B-B14F-4D97-AF65-F5344CB8AC3E}">
        <p14:creationId xmlns:p14="http://schemas.microsoft.com/office/powerpoint/2010/main" val="1823973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86C03-B158-E741-F519-99C35171F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645F908F-1852-56C7-D016-6B45DE9EE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sz="6000" dirty="0" err="1"/>
              <a:t>Exercise</a:t>
            </a:r>
            <a:r>
              <a:rPr lang="nb-NO" sz="6000" dirty="0"/>
              <a:t> 3:</a:t>
            </a:r>
            <a:br>
              <a:rPr lang="nb-NO" sz="6000" dirty="0"/>
            </a:br>
            <a:r>
              <a:rPr lang="nb-NO" sz="6000" dirty="0"/>
              <a:t>3_PRAM.R</a:t>
            </a:r>
            <a:br>
              <a:rPr lang="nb-NO" sz="6000" dirty="0"/>
            </a:br>
            <a:endParaRPr lang="nb-NO" sz="6000" dirty="0"/>
          </a:p>
        </p:txBody>
      </p:sp>
    </p:spTree>
    <p:extLst>
      <p:ext uri="{BB962C8B-B14F-4D97-AF65-F5344CB8AC3E}">
        <p14:creationId xmlns:p14="http://schemas.microsoft.com/office/powerpoint/2010/main" val="1421227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0FB1A-2D22-6CF1-9F47-96EE4A57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AF8FD363-F786-C1B4-6FC3-DB513AC1C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err="1"/>
              <a:t>Thank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36189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SSB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A9D49"/>
      </a:accent1>
      <a:accent2>
        <a:srgbClr val="274247"/>
      </a:accent2>
      <a:accent3>
        <a:srgbClr val="9582BB"/>
      </a:accent3>
      <a:accent4>
        <a:srgbClr val="3396D2"/>
      </a:accent4>
      <a:accent5>
        <a:srgbClr val="D2BC2A"/>
      </a:accent5>
      <a:accent6>
        <a:srgbClr val="8CA9AA"/>
      </a:accent6>
      <a:hlink>
        <a:srgbClr val="0563C1"/>
      </a:hlink>
      <a:folHlink>
        <a:srgbClr val="954F72"/>
      </a:folHlink>
    </a:clrScheme>
    <a:fontScheme name="SSB">
      <a:majorFont>
        <a:latin typeface="Roboto Condensed"/>
        <a:ea typeface=""/>
        <a:cs typeface=""/>
      </a:majorFont>
      <a:minorFont>
        <a:latin typeface="Open Sans"/>
        <a:ea typeface=""/>
        <a:cs typeface="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bmal_2018.potx" id="{27830765-609B-40A7-BB85-0ABEDBC2E87E}" vid="{F965F0D8-9B15-47DC-9966-C4B99B4DF52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14C7EF7DA17C4C842950F82EA203DF" ma:contentTypeVersion="7" ma:contentTypeDescription="Create a new document." ma:contentTypeScope="" ma:versionID="3aa4873081dd2e098511f287a3ae1412">
  <xsd:schema xmlns:xsd="http://www.w3.org/2001/XMLSchema" xmlns:xs="http://www.w3.org/2001/XMLSchema" xmlns:p="http://schemas.microsoft.com/office/2006/metadata/properties" xmlns:ns2="74da3df6-f4aa-478a-a5d8-aa90ad35bd94" xmlns:ns3="2bf0940c-1ce9-4c89-931e-efbf8864587d" targetNamespace="http://schemas.microsoft.com/office/2006/metadata/properties" ma:root="true" ma:fieldsID="1fb1b4c73b136ba6c27ea1011c2e20fb" ns2:_="" ns3:_="">
    <xsd:import namespace="74da3df6-f4aa-478a-a5d8-aa90ad35bd94"/>
    <xsd:import namespace="2bf0940c-1ce9-4c89-931e-efbf886458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a3df6-f4aa-478a-a5d8-aa90ad35bd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f0940c-1ce9-4c89-931e-efbf8864587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5B21A6-4BC1-49F8-B567-7F7CF8B881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F5E8AB-3EE2-4CB1-8355-A1638E40C7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da3df6-f4aa-478a-a5d8-aa90ad35bd94"/>
    <ds:schemaRef ds:uri="2bf0940c-1ce9-4c89-931e-efbf886458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5C60F9C-C20B-4526-AA17-F705D3E3B42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11713</TotalTime>
  <Words>842</Words>
  <Application>Microsoft Macintosh PowerPoint</Application>
  <PresentationFormat>Widescreen</PresentationFormat>
  <Paragraphs>193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Lucida Console</vt:lpstr>
      <vt:lpstr>Roboto Condensed</vt:lpstr>
      <vt:lpstr>Arial</vt:lpstr>
      <vt:lpstr>Open Sans</vt:lpstr>
      <vt:lpstr>Office-tema</vt:lpstr>
      <vt:lpstr>Microdata Protection Using sdcMicro</vt:lpstr>
      <vt:lpstr>Exercises Added Today</vt:lpstr>
      <vt:lpstr>Today’s Plan</vt:lpstr>
      <vt:lpstr>sdcMicro — Introduction</vt:lpstr>
      <vt:lpstr>sdcMicro — Features</vt:lpstr>
      <vt:lpstr>Create Initial sdcMicroObj</vt:lpstr>
      <vt:lpstr>Create Initial sdcMicroObj</vt:lpstr>
      <vt:lpstr>Persons Dataset</vt:lpstr>
      <vt:lpstr>Create Initial sdcMicroObj – Example</vt:lpstr>
      <vt:lpstr>The sdcMicroObj – Slots</vt:lpstr>
      <vt:lpstr>The Risk Slot – sdc_0@risk</vt:lpstr>
      <vt:lpstr>Demonstration</vt:lpstr>
      <vt:lpstr>Exercise 1: 1_create_sdc_object.R </vt:lpstr>
      <vt:lpstr>Recoding</vt:lpstr>
      <vt:lpstr>Local Suppression</vt:lpstr>
      <vt:lpstr>Generate Report</vt:lpstr>
      <vt:lpstr>Extract Data with extractManipData</vt:lpstr>
      <vt:lpstr>Exercise 2: 2_recode_and_suppress.R </vt:lpstr>
      <vt:lpstr>Exercise 3: 3_PRAM.R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Klungre, Vidar Norstein</dc:creator>
  <cp:lastModifiedBy>Klungre, Vidar Norstein</cp:lastModifiedBy>
  <cp:revision>6</cp:revision>
  <dcterms:created xsi:type="dcterms:W3CDTF">2025-11-09T21:15:32Z</dcterms:created>
  <dcterms:modified xsi:type="dcterms:W3CDTF">2025-11-25T14:47:39Z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bb1e25a-de7b-40d6-a859-76fe2317f0af_Enabled">
    <vt:lpwstr>True</vt:lpwstr>
  </property>
  <property fmtid="{D5CDD505-2E9C-101B-9397-08002B2CF9AE}" pid="3" name="MSIP_Label_ebb1e25a-de7b-40d6-a859-76fe2317f0af_SiteId">
    <vt:lpwstr>c7217092-b240-4e1d-bd61-fa97ba975cbc</vt:lpwstr>
  </property>
  <property fmtid="{D5CDD505-2E9C-101B-9397-08002B2CF9AE}" pid="4" name="MSIP_Label_ebb1e25a-de7b-40d6-a859-76fe2317f0af_Owner">
    <vt:lpwstr>thb@ssb.no</vt:lpwstr>
  </property>
  <property fmtid="{D5CDD505-2E9C-101B-9397-08002B2CF9AE}" pid="5" name="MSIP_Label_ebb1e25a-de7b-40d6-a859-76fe2317f0af_SetDate">
    <vt:lpwstr>2019-01-10T08:15:32.1166307Z</vt:lpwstr>
  </property>
  <property fmtid="{D5CDD505-2E9C-101B-9397-08002B2CF9AE}" pid="6" name="MSIP_Label_ebb1e25a-de7b-40d6-a859-76fe2317f0af_Name">
    <vt:lpwstr>Åpent</vt:lpwstr>
  </property>
  <property fmtid="{D5CDD505-2E9C-101B-9397-08002B2CF9AE}" pid="7" name="MSIP_Label_ebb1e25a-de7b-40d6-a859-76fe2317f0af_Application">
    <vt:lpwstr>Microsoft Azure Information Protection</vt:lpwstr>
  </property>
  <property fmtid="{D5CDD505-2E9C-101B-9397-08002B2CF9AE}" pid="8" name="MSIP_Label_ebb1e25a-de7b-40d6-a859-76fe2317f0af_Extended_MSFT_Method">
    <vt:lpwstr>Automatic</vt:lpwstr>
  </property>
  <property fmtid="{D5CDD505-2E9C-101B-9397-08002B2CF9AE}" pid="9" name="Sensitivity">
    <vt:lpwstr>Åpent</vt:lpwstr>
  </property>
  <property fmtid="{D5CDD505-2E9C-101B-9397-08002B2CF9AE}" pid="10" name="ContentTypeId">
    <vt:lpwstr>0x0101006014C7EF7DA17C4C842950F82EA203DF</vt:lpwstr>
  </property>
</Properties>
</file>