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7"/>
  </p:notesMasterIdLst>
  <p:sldIdLst>
    <p:sldId id="256" r:id="rId5"/>
    <p:sldId id="262" r:id="rId6"/>
    <p:sldId id="264" r:id="rId7"/>
    <p:sldId id="281" r:id="rId8"/>
    <p:sldId id="261" r:id="rId9"/>
    <p:sldId id="268" r:id="rId10"/>
    <p:sldId id="278" r:id="rId11"/>
    <p:sldId id="269" r:id="rId12"/>
    <p:sldId id="270" r:id="rId13"/>
    <p:sldId id="288" r:id="rId14"/>
    <p:sldId id="272" r:id="rId15"/>
    <p:sldId id="267" r:id="rId16"/>
  </p:sldIdLst>
  <p:sldSz cx="12192000" cy="6858000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Roboto Condensed" panose="02000000000000000000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2286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F82"/>
    <a:srgbClr val="2742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912BC7-780F-4C58-9AD5-239BFB9CADFC}" v="40" dt="2025-11-27T15:04:02.8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73" autoAdjust="0"/>
    <p:restoredTop sz="93447" autoAdjust="0"/>
  </p:normalViewPr>
  <p:slideViewPr>
    <p:cSldViewPr snapToGrid="0">
      <p:cViewPr varScale="1">
        <p:scale>
          <a:sx n="60" d="100"/>
          <a:sy n="60" d="100"/>
        </p:scale>
        <p:origin x="284" y="44"/>
      </p:cViewPr>
      <p:guideLst>
        <p:guide orient="horz" pos="21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øvelstad, Hege Marie" userId="0cc1585d-fca6-4efa-a578-2aa962acf962" providerId="ADAL" clId="{D9B01F66-A7A2-4F9D-A7DC-78146CD17F48}"/>
    <pc:docChg chg="undo custSel addSld delSld modSld">
      <pc:chgData name="Bøvelstad, Hege Marie" userId="0cc1585d-fca6-4efa-a578-2aa962acf962" providerId="ADAL" clId="{D9B01F66-A7A2-4F9D-A7DC-78146CD17F48}" dt="2025-11-27T15:04:10.683" v="53" actId="47"/>
      <pc:docMkLst>
        <pc:docMk/>
      </pc:docMkLst>
      <pc:sldChg chg="modSp mod">
        <pc:chgData name="Bøvelstad, Hege Marie" userId="0cc1585d-fca6-4efa-a578-2aa962acf962" providerId="ADAL" clId="{D9B01F66-A7A2-4F9D-A7DC-78146CD17F48}" dt="2025-11-27T15:03:10.733" v="14" actId="20577"/>
        <pc:sldMkLst>
          <pc:docMk/>
          <pc:sldMk cId="3480541493" sldId="261"/>
        </pc:sldMkLst>
        <pc:spChg chg="mod">
          <ac:chgData name="Bøvelstad, Hege Marie" userId="0cc1585d-fca6-4efa-a578-2aa962acf962" providerId="ADAL" clId="{D9B01F66-A7A2-4F9D-A7DC-78146CD17F48}" dt="2025-11-27T15:03:10.733" v="14" actId="20577"/>
          <ac:spMkLst>
            <pc:docMk/>
            <pc:sldMk cId="3480541493" sldId="261"/>
            <ac:spMk id="4" creationId="{00000000-0000-0000-0000-000000000000}"/>
          </ac:spMkLst>
        </pc:spChg>
      </pc:sldChg>
      <pc:sldChg chg="modAnim">
        <pc:chgData name="Bøvelstad, Hege Marie" userId="0cc1585d-fca6-4efa-a578-2aa962acf962" providerId="ADAL" clId="{D9B01F66-A7A2-4F9D-A7DC-78146CD17F48}" dt="2025-11-27T15:03:00.711" v="6"/>
        <pc:sldMkLst>
          <pc:docMk/>
          <pc:sldMk cId="884522175" sldId="264"/>
        </pc:sldMkLst>
      </pc:sldChg>
      <pc:sldChg chg="del">
        <pc:chgData name="Bøvelstad, Hege Marie" userId="0cc1585d-fca6-4efa-a578-2aa962acf962" providerId="ADAL" clId="{D9B01F66-A7A2-4F9D-A7DC-78146CD17F48}" dt="2025-11-27T15:04:07.750" v="45" actId="47"/>
        <pc:sldMkLst>
          <pc:docMk/>
          <pc:sldMk cId="3783130178" sldId="265"/>
        </pc:sldMkLst>
      </pc:sldChg>
      <pc:sldChg chg="del">
        <pc:chgData name="Bøvelstad, Hege Marie" userId="0cc1585d-fca6-4efa-a578-2aa962acf962" providerId="ADAL" clId="{D9B01F66-A7A2-4F9D-A7DC-78146CD17F48}" dt="2025-11-27T15:04:06.847" v="43" actId="47"/>
        <pc:sldMkLst>
          <pc:docMk/>
          <pc:sldMk cId="3769123511" sldId="266"/>
        </pc:sldMkLst>
      </pc:sldChg>
      <pc:sldChg chg="add del">
        <pc:chgData name="Bøvelstad, Hege Marie" userId="0cc1585d-fca6-4efa-a578-2aa962acf962" providerId="ADAL" clId="{D9B01F66-A7A2-4F9D-A7DC-78146CD17F48}" dt="2025-11-27T15:04:10.683" v="53" actId="47"/>
        <pc:sldMkLst>
          <pc:docMk/>
          <pc:sldMk cId="2276994922" sldId="267"/>
        </pc:sldMkLst>
      </pc:sldChg>
      <pc:sldChg chg="modAnim">
        <pc:chgData name="Bøvelstad, Hege Marie" userId="0cc1585d-fca6-4efa-a578-2aa962acf962" providerId="ADAL" clId="{D9B01F66-A7A2-4F9D-A7DC-78146CD17F48}" dt="2025-11-27T15:03:22.997" v="23"/>
        <pc:sldMkLst>
          <pc:docMk/>
          <pc:sldMk cId="56992055" sldId="268"/>
        </pc:sldMkLst>
      </pc:sldChg>
      <pc:sldChg chg="modAnim">
        <pc:chgData name="Bøvelstad, Hege Marie" userId="0cc1585d-fca6-4efa-a578-2aa962acf962" providerId="ADAL" clId="{D9B01F66-A7A2-4F9D-A7DC-78146CD17F48}" dt="2025-11-27T15:03:37.399" v="38"/>
        <pc:sldMkLst>
          <pc:docMk/>
          <pc:sldMk cId="226734133" sldId="269"/>
        </pc:sldMkLst>
      </pc:sldChg>
      <pc:sldChg chg="modAnim">
        <pc:chgData name="Bøvelstad, Hege Marie" userId="0cc1585d-fca6-4efa-a578-2aa962acf962" providerId="ADAL" clId="{D9B01F66-A7A2-4F9D-A7DC-78146CD17F48}" dt="2025-11-27T15:03:44.043" v="39"/>
        <pc:sldMkLst>
          <pc:docMk/>
          <pc:sldMk cId="2025802502" sldId="270"/>
        </pc:sldMkLst>
      </pc:sldChg>
      <pc:sldChg chg="modAnim">
        <pc:chgData name="Bøvelstad, Hege Marie" userId="0cc1585d-fca6-4efa-a578-2aa962acf962" providerId="ADAL" clId="{D9B01F66-A7A2-4F9D-A7DC-78146CD17F48}" dt="2025-11-27T15:04:02.846" v="42"/>
        <pc:sldMkLst>
          <pc:docMk/>
          <pc:sldMk cId="79994234" sldId="272"/>
        </pc:sldMkLst>
      </pc:sldChg>
      <pc:sldChg chg="del">
        <pc:chgData name="Bøvelstad, Hege Marie" userId="0cc1585d-fca6-4efa-a578-2aa962acf962" providerId="ADAL" clId="{D9B01F66-A7A2-4F9D-A7DC-78146CD17F48}" dt="2025-11-27T15:04:08.050" v="46" actId="47"/>
        <pc:sldMkLst>
          <pc:docMk/>
          <pc:sldMk cId="3877206722" sldId="273"/>
        </pc:sldMkLst>
      </pc:sldChg>
      <pc:sldChg chg="del">
        <pc:chgData name="Bøvelstad, Hege Marie" userId="0cc1585d-fca6-4efa-a578-2aa962acf962" providerId="ADAL" clId="{D9B01F66-A7A2-4F9D-A7DC-78146CD17F48}" dt="2025-11-27T15:04:08.479" v="48" actId="47"/>
        <pc:sldMkLst>
          <pc:docMk/>
          <pc:sldMk cId="134205637" sldId="274"/>
        </pc:sldMkLst>
      </pc:sldChg>
      <pc:sldChg chg="del">
        <pc:chgData name="Bøvelstad, Hege Marie" userId="0cc1585d-fca6-4efa-a578-2aa962acf962" providerId="ADAL" clId="{D9B01F66-A7A2-4F9D-A7DC-78146CD17F48}" dt="2025-11-27T15:04:08.685" v="49" actId="47"/>
        <pc:sldMkLst>
          <pc:docMk/>
          <pc:sldMk cId="1537830591" sldId="275"/>
        </pc:sldMkLst>
      </pc:sldChg>
      <pc:sldChg chg="del">
        <pc:chgData name="Bøvelstad, Hege Marie" userId="0cc1585d-fca6-4efa-a578-2aa962acf962" providerId="ADAL" clId="{D9B01F66-A7A2-4F9D-A7DC-78146CD17F48}" dt="2025-11-27T15:04:08.858" v="50" actId="47"/>
        <pc:sldMkLst>
          <pc:docMk/>
          <pc:sldMk cId="1864969331" sldId="276"/>
        </pc:sldMkLst>
      </pc:sldChg>
      <pc:sldChg chg="del">
        <pc:chgData name="Bøvelstad, Hege Marie" userId="0cc1585d-fca6-4efa-a578-2aa962acf962" providerId="ADAL" clId="{D9B01F66-A7A2-4F9D-A7DC-78146CD17F48}" dt="2025-11-27T15:04:09.033" v="51" actId="47"/>
        <pc:sldMkLst>
          <pc:docMk/>
          <pc:sldMk cId="779103557" sldId="277"/>
        </pc:sldMkLst>
      </pc:sldChg>
      <pc:sldChg chg="modAnim">
        <pc:chgData name="Bøvelstad, Hege Marie" userId="0cc1585d-fca6-4efa-a578-2aa962acf962" providerId="ADAL" clId="{D9B01F66-A7A2-4F9D-A7DC-78146CD17F48}" dt="2025-11-27T15:03:30.095" v="28"/>
        <pc:sldMkLst>
          <pc:docMk/>
          <pc:sldMk cId="3690641640" sldId="278"/>
        </pc:sldMkLst>
      </pc:sldChg>
      <pc:sldChg chg="del">
        <pc:chgData name="Bøvelstad, Hege Marie" userId="0cc1585d-fca6-4efa-a578-2aa962acf962" providerId="ADAL" clId="{D9B01F66-A7A2-4F9D-A7DC-78146CD17F48}" dt="2025-11-27T15:04:07.095" v="44" actId="47"/>
        <pc:sldMkLst>
          <pc:docMk/>
          <pc:sldMk cId="374392292" sldId="279"/>
        </pc:sldMkLst>
      </pc:sldChg>
      <pc:sldChg chg="del">
        <pc:chgData name="Bøvelstad, Hege Marie" userId="0cc1585d-fca6-4efa-a578-2aa962acf962" providerId="ADAL" clId="{D9B01F66-A7A2-4F9D-A7DC-78146CD17F48}" dt="2025-11-27T15:04:08.277" v="47" actId="47"/>
        <pc:sldMkLst>
          <pc:docMk/>
          <pc:sldMk cId="4023044152" sldId="280"/>
        </pc:sldMkLst>
      </pc:sldChg>
      <pc:sldChg chg="modSp modAnim">
        <pc:chgData name="Bøvelstad, Hege Marie" userId="0cc1585d-fca6-4efa-a578-2aa962acf962" providerId="ADAL" clId="{D9B01F66-A7A2-4F9D-A7DC-78146CD17F48}" dt="2025-11-27T15:03:14.645" v="16" actId="20577"/>
        <pc:sldMkLst>
          <pc:docMk/>
          <pc:sldMk cId="262671976" sldId="281"/>
        </pc:sldMkLst>
        <pc:spChg chg="mod">
          <ac:chgData name="Bøvelstad, Hege Marie" userId="0cc1585d-fca6-4efa-a578-2aa962acf962" providerId="ADAL" clId="{D9B01F66-A7A2-4F9D-A7DC-78146CD17F48}" dt="2025-11-27T15:03:14.645" v="16" actId="20577"/>
          <ac:spMkLst>
            <pc:docMk/>
            <pc:sldMk cId="262671976" sldId="281"/>
            <ac:spMk id="3" creationId="{8B3D51FF-6597-9386-B070-5C8E86AEE601}"/>
          </ac:spMkLst>
        </pc:spChg>
      </pc:sldChg>
      <pc:sldChg chg="del">
        <pc:chgData name="Bøvelstad, Hege Marie" userId="0cc1585d-fca6-4efa-a578-2aa962acf962" providerId="ADAL" clId="{D9B01F66-A7A2-4F9D-A7DC-78146CD17F48}" dt="2025-11-27T15:03:54.486" v="40" actId="47"/>
        <pc:sldMkLst>
          <pc:docMk/>
          <pc:sldMk cId="3403718896" sldId="284"/>
        </pc:sldMkLst>
      </pc:sldChg>
      <pc:sldChg chg="del">
        <pc:chgData name="Bøvelstad, Hege Marie" userId="0cc1585d-fca6-4efa-a578-2aa962acf962" providerId="ADAL" clId="{D9B01F66-A7A2-4F9D-A7DC-78146CD17F48}" dt="2025-11-27T15:03:54.486" v="40" actId="47"/>
        <pc:sldMkLst>
          <pc:docMk/>
          <pc:sldMk cId="115930153" sldId="285"/>
        </pc:sldMkLst>
      </pc:sldChg>
      <pc:sldChg chg="del">
        <pc:chgData name="Bøvelstad, Hege Marie" userId="0cc1585d-fca6-4efa-a578-2aa962acf962" providerId="ADAL" clId="{D9B01F66-A7A2-4F9D-A7DC-78146CD17F48}" dt="2025-11-27T15:03:54.486" v="40" actId="47"/>
        <pc:sldMkLst>
          <pc:docMk/>
          <pc:sldMk cId="1618394237" sldId="286"/>
        </pc:sldMkLst>
      </pc:sldChg>
      <pc:sldChg chg="del">
        <pc:chgData name="Bøvelstad, Hege Marie" userId="0cc1585d-fca6-4efa-a578-2aa962acf962" providerId="ADAL" clId="{D9B01F66-A7A2-4F9D-A7DC-78146CD17F48}" dt="2025-11-27T15:03:54.486" v="40" actId="47"/>
        <pc:sldMkLst>
          <pc:docMk/>
          <pc:sldMk cId="2858254181" sldId="287"/>
        </pc:sldMkLst>
      </pc:sldChg>
      <pc:sldChg chg="modAnim">
        <pc:chgData name="Bøvelstad, Hege Marie" userId="0cc1585d-fca6-4efa-a578-2aa962acf962" providerId="ADAL" clId="{D9B01F66-A7A2-4F9D-A7DC-78146CD17F48}" dt="2025-11-27T15:03:58.463" v="41"/>
        <pc:sldMkLst>
          <pc:docMk/>
          <pc:sldMk cId="1985551515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322AE-C080-4F6B-A2DA-65DD5CAA6584}" type="datetimeFigureOut">
              <a:rPr lang="nb-NO" smtClean="0"/>
              <a:t>27.11.2025</a:t>
            </a:fld>
            <a:endParaRPr lang="nb-NO" dirty="0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65DC9A-227C-45EC-9FFA-BE399E86C179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12312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 concentrates on the </a:t>
            </a:r>
            <a:r>
              <a:rPr lang="en-US" u="sng" dirty="0"/>
              <a:t>identifying variables</a:t>
            </a:r>
            <a:r>
              <a:rPr lang="en-US" dirty="0"/>
              <a:t> or </a:t>
            </a:r>
            <a:r>
              <a:rPr lang="en-US" u="sng" dirty="0"/>
              <a:t>key-variables</a:t>
            </a:r>
            <a:r>
              <a:rPr lang="en-US" dirty="0"/>
              <a:t>, as these are the starting point for an intrusion. 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5DC9A-227C-45EC-9FFA-BE399E86C179}" type="slidenum">
              <a:rPr lang="nb-NO" smtClean="0"/>
              <a:t>3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4250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rule does not replace rule 2, but is instead a practical extension of that rule. </a:t>
            </a:r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5DC9A-227C-45EC-9FFA-BE399E86C179}" type="slidenum">
              <a:rPr lang="nb-NO" smtClean="0"/>
              <a:t>8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60224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0F6BF-3B86-0F2D-24D3-374005A2B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D96BB0CF-CEAC-D2F0-A56E-E22EE5DFF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B249FDC2-375B-3EAD-F447-FC7E65FE6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rule does not replace rule 2, but is instead a practical extension of that rule. </a:t>
            </a:r>
          </a:p>
          <a:p>
            <a:endParaRPr lang="nb-NO" dirty="0"/>
          </a:p>
          <a:p>
            <a:endParaRPr lang="nb-NO" dirty="0"/>
          </a:p>
          <a:p>
            <a:r>
              <a:rPr lang="nb-NO" dirty="0"/>
              <a:t>Panel data: </a:t>
            </a:r>
            <a:r>
              <a:rPr lang="en-US" dirty="0"/>
              <a:t>If the microdata concern panel data direct regional data should not be released. This rule prevents the disclosure of individual information by using the panel character of the microdata.</a:t>
            </a:r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6D85682E-B16E-D554-FA57-DB3458B52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5DC9A-227C-45EC-9FFA-BE399E86C179}" type="slidenum">
              <a:rPr lang="nb-NO" smtClean="0"/>
              <a:t>9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5560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4" descr="Et bilde som inneholder skjermbilde&#10;&#10;Beskrivelse som er generert med svært høy visshet">
            <a:extLst>
              <a:ext uri="{FF2B5EF4-FFF2-40B4-BE49-F238E27FC236}">
                <a16:creationId xmlns:a16="http://schemas.microsoft.com/office/drawing/2014/main" id="{47F2A11D-5491-478B-9E74-10A8C407A8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"/>
            <a:ext cx="12192000" cy="6857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0991" y="2722288"/>
            <a:ext cx="9390018" cy="1015791"/>
          </a:xfrm>
          <a:ln>
            <a:noFill/>
          </a:ln>
        </p:spPr>
        <p:txBody>
          <a:bodyPr anchor="b"/>
          <a:lstStyle>
            <a:lvl1pPr algn="ctr">
              <a:lnSpc>
                <a:spcPct val="100000"/>
              </a:lnSpc>
              <a:defRPr lang="nb-NO" sz="6001" b="1" i="0" u="none" strike="noStrike" baseline="0" smtClean="0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nb-NO" noProof="0"/>
              <a:t>Klikk for å redigere tittelstil</a:t>
            </a:r>
            <a:endParaRPr lang="nb-N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00991" y="3909549"/>
            <a:ext cx="9390018" cy="401648"/>
          </a:xfrm>
        </p:spPr>
        <p:txBody>
          <a:bodyPr>
            <a:spAutoFit/>
          </a:bodyPr>
          <a:lstStyle>
            <a:lvl1pPr marL="0" indent="0" algn="ctr">
              <a:buNone/>
              <a:defRPr sz="1500" cap="all" spc="75" baseline="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nb-NO" noProof="0" dirty="0"/>
              <a:t>UNDERTITTEL SKAL INN HER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5524F468-AFDE-4FA7-A336-BF521DA62E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1606" cy="18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8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B0DE3-8AB4-4283-AAF7-C599EB450E0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19359" y="1862176"/>
            <a:ext cx="9651619" cy="397886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106242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telski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Et bilde som inneholder skjermbilde&#10;&#10;Beskrivelse som er generert med høy visshet">
            <a:extLst>
              <a:ext uri="{FF2B5EF4-FFF2-40B4-BE49-F238E27FC236}">
                <a16:creationId xmlns:a16="http://schemas.microsoft.com/office/drawing/2014/main" id="{82044551-1680-47B1-A9ED-E2CF3CEB21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"/>
            <a:ext cx="12192000" cy="6857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0991" y="2799917"/>
            <a:ext cx="9390018" cy="1015791"/>
          </a:xfrm>
          <a:ln>
            <a:noFill/>
          </a:ln>
        </p:spPr>
        <p:txBody>
          <a:bodyPr anchor="ctr" anchorCtr="0"/>
          <a:lstStyle>
            <a:lvl1pPr algn="ctr">
              <a:lnSpc>
                <a:spcPct val="100000"/>
              </a:lnSpc>
              <a:defRPr lang="nb-NO" sz="6001" b="1" i="0" u="none" strike="noStrike" baseline="0" smtClean="0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5524F468-AFDE-4FA7-A336-BF521DA62E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1606" cy="18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3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, innhold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5520737" cy="1477584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31725901-1B6A-4C45-8DFA-5AEEA34F55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95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CC6CF-133F-4327-B59A-5E987B55A2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11160" y="633486"/>
            <a:ext cx="5149886" cy="527984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7D4585-68D6-4C8C-9321-1D6936FE09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75264" y="2028632"/>
            <a:ext cx="5520737" cy="3884698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950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tel, innhold og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5520737" cy="1477584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1CF5FB5-3D6B-44D1-99CC-F0E11CB949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263" y="2028632"/>
            <a:ext cx="5520737" cy="3884697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6" name="Plassholder for bilde 5">
            <a:extLst>
              <a:ext uri="{FF2B5EF4-FFF2-40B4-BE49-F238E27FC236}">
                <a16:creationId xmlns:a16="http://schemas.microsoft.com/office/drawing/2014/main" id="{70F86513-61E2-4B24-BEA6-A699F2FC0A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60" y="633486"/>
            <a:ext cx="5149886" cy="527984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 dirty="0"/>
              <a:t>Klikk på ikonet for å legge til et bilde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31725901-1B6A-4C45-8DFA-5AEEA34F55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9553" y="6349153"/>
            <a:ext cx="7230416" cy="323165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</p:spTree>
    <p:extLst>
      <p:ext uri="{BB962C8B-B14F-4D97-AF65-F5344CB8AC3E}">
        <p14:creationId xmlns:p14="http://schemas.microsoft.com/office/powerpoint/2010/main" val="4112122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to valgfrie elem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10985784" cy="784958"/>
          </a:xfrm>
        </p:spPr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09D97-491E-4B44-B31E-075E94ECFD5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154" y="1809960"/>
            <a:ext cx="5149886" cy="4103369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B0EA0-EE56-4BC2-9A97-1C7D7797FA5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11160" y="1809960"/>
            <a:ext cx="5149886" cy="4103369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992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to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262" y="551048"/>
            <a:ext cx="10985784" cy="784958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6" name="Plassholder for bilde 5">
            <a:extLst>
              <a:ext uri="{FF2B5EF4-FFF2-40B4-BE49-F238E27FC236}">
                <a16:creationId xmlns:a16="http://schemas.microsoft.com/office/drawing/2014/main" id="{70F86513-61E2-4B24-BEA6-A699F2FC0A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60" y="1809959"/>
            <a:ext cx="5149886" cy="410336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 dirty="0"/>
              <a:t>Klikk på ikonet for å legge til et bilde</a:t>
            </a:r>
          </a:p>
        </p:txBody>
      </p:sp>
      <p:sp>
        <p:nvSpPr>
          <p:cNvPr id="5" name="Plassholder for bilde 5">
            <a:extLst>
              <a:ext uri="{FF2B5EF4-FFF2-40B4-BE49-F238E27FC236}">
                <a16:creationId xmlns:a16="http://schemas.microsoft.com/office/drawing/2014/main" id="{B9099586-714C-4DE3-816E-CD6982F9B3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154" y="1809959"/>
            <a:ext cx="5149886" cy="410336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 dirty="0"/>
              <a:t>Klikk på ikonet for å legge til et bilde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323165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</p:spTree>
    <p:extLst>
      <p:ext uri="{BB962C8B-B14F-4D97-AF65-F5344CB8AC3E}">
        <p14:creationId xmlns:p14="http://schemas.microsoft.com/office/powerpoint/2010/main" val="641741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 valgfrie elem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35B047-1C6C-4BB1-9AAC-35E8860EA5E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154" y="619504"/>
            <a:ext cx="5149886" cy="5293824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7ABDC-D2D5-4A6E-B4C5-2E8F7BF4AC3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11160" y="619504"/>
            <a:ext cx="5149886" cy="5293824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093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5">
            <a:extLst>
              <a:ext uri="{FF2B5EF4-FFF2-40B4-BE49-F238E27FC236}">
                <a16:creationId xmlns:a16="http://schemas.microsoft.com/office/drawing/2014/main" id="{70F86513-61E2-4B24-BEA6-A699F2FC0AC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1160" y="619504"/>
            <a:ext cx="5149886" cy="52938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 dirty="0"/>
              <a:t>Klikk på ikonet for å legge til et bilde</a:t>
            </a:r>
          </a:p>
        </p:txBody>
      </p:sp>
      <p:sp>
        <p:nvSpPr>
          <p:cNvPr id="5" name="Plassholder for bilde 5">
            <a:extLst>
              <a:ext uri="{FF2B5EF4-FFF2-40B4-BE49-F238E27FC236}">
                <a16:creationId xmlns:a16="http://schemas.microsoft.com/office/drawing/2014/main" id="{B9099586-714C-4DE3-816E-CD6982F9B3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154" y="619504"/>
            <a:ext cx="5149886" cy="52938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 dirty="0"/>
              <a:t>Klikk på ikonet for å legge til et bilde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323165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</p:spTree>
    <p:extLst>
      <p:ext uri="{BB962C8B-B14F-4D97-AF65-F5344CB8AC3E}">
        <p14:creationId xmlns:p14="http://schemas.microsoft.com/office/powerpoint/2010/main" val="57205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e (sto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ssholder for bilde 5">
            <a:extLst>
              <a:ext uri="{FF2B5EF4-FFF2-40B4-BE49-F238E27FC236}">
                <a16:creationId xmlns:a16="http://schemas.microsoft.com/office/drawing/2014/main" id="{9C0BB095-47FF-4294-9915-4ED142AC03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154" y="619504"/>
            <a:ext cx="10903891" cy="529382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nb-NO" dirty="0"/>
              <a:t>Klikk på ikonet for å legge til et bilde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09D88CB4-C128-4C0D-85AC-05363983D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0153" y="6349153"/>
            <a:ext cx="7230416" cy="298543"/>
          </a:xfrm>
        </p:spPr>
        <p:txBody>
          <a:bodyPr>
            <a:spAutoFit/>
          </a:bodyPr>
          <a:lstStyle>
            <a:lvl1pPr marL="0" indent="0">
              <a:buNone/>
              <a:defRPr sz="1000" spc="50" baseline="0">
                <a:latin typeface="+mn-lt"/>
              </a:defRPr>
            </a:lvl1pPr>
          </a:lstStyle>
          <a:p>
            <a:pPr lvl="0"/>
            <a:r>
              <a:rPr lang="nb-NO" dirty="0"/>
              <a:t>Fotokreditering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FD3FCA3-4503-49E6-83F2-4DF49013A4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8991" y="3781605"/>
            <a:ext cx="4856516" cy="1816654"/>
          </a:xfrm>
          <a:solidFill>
            <a:schemeClr val="bg1">
              <a:alpha val="90000"/>
            </a:schemeClr>
          </a:solidFill>
        </p:spPr>
        <p:txBody>
          <a:bodyPr lIns="648000" rIns="648000" anchor="ctr" anchorCtr="0"/>
          <a:lstStyle>
            <a:lvl1pPr marL="0" indent="0" algn="ctr">
              <a:buNone/>
              <a:defRPr/>
            </a:lvl1pPr>
          </a:lstStyle>
          <a:p>
            <a:pPr lvl="0"/>
            <a:r>
              <a:rPr lang="nb-NO"/>
              <a:t>Klikk for å redigere tekststiler i malen</a:t>
            </a:r>
          </a:p>
        </p:txBody>
      </p:sp>
    </p:spTree>
    <p:extLst>
      <p:ext uri="{BB962C8B-B14F-4D97-AF65-F5344CB8AC3E}">
        <p14:creationId xmlns:p14="http://schemas.microsoft.com/office/powerpoint/2010/main" val="159255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399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746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Agenda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1B50D6-0810-4E43-928C-534B46A7A4E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19359" y="1862176"/>
            <a:ext cx="9651619" cy="3978862"/>
          </a:xfrm>
          <a:prstGeom prst="rect">
            <a:avLst/>
          </a:prstGeom>
        </p:spPr>
        <p:txBody>
          <a:bodyPr lIns="91440" tIns="45720" rIns="91440" bIns="45720"/>
          <a:lstStyle>
            <a:lvl1pPr marL="0" marR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lvl1pPr>
          </a:lstStyle>
          <a:p>
            <a:pPr lvl="0"/>
            <a:r>
              <a:rPr lang="nb-NO" noProof="0"/>
              <a:t>Punkt én på agendaen i korte trekk</a:t>
            </a:r>
          </a:p>
          <a:p>
            <a:pPr lvl="0"/>
            <a:r>
              <a:rPr lang="nb-NO" noProof="0"/>
              <a:t>Punkt to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tre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fire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fem på agendaen i korte trekk</a:t>
            </a:r>
          </a:p>
          <a:p>
            <a:pPr marL="0" marR="0" lvl="0" indent="0" algn="l" defTabSz="914446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nb-NO" noProof="0"/>
              <a:t>Punkt seks på agendaen i korte trekk</a:t>
            </a:r>
          </a:p>
          <a:p>
            <a:pPr lvl="0"/>
            <a:endParaRPr lang="nb-NO" noProof="0"/>
          </a:p>
        </p:txBody>
      </p:sp>
      <p:cxnSp>
        <p:nvCxnSpPr>
          <p:cNvPr id="10" name="Rett linje 9">
            <a:extLst>
              <a:ext uri="{FF2B5EF4-FFF2-40B4-BE49-F238E27FC236}">
                <a16:creationId xmlns:a16="http://schemas.microsoft.com/office/drawing/2014/main" id="{7E2593EF-F9EB-40ED-942A-4879FA78B594}"/>
              </a:ext>
            </a:extLst>
          </p:cNvPr>
          <p:cNvCxnSpPr/>
          <p:nvPr userDrawn="1"/>
        </p:nvCxnSpPr>
        <p:spPr>
          <a:xfrm>
            <a:off x="1219359" y="2478704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Rett linje 10">
            <a:extLst>
              <a:ext uri="{FF2B5EF4-FFF2-40B4-BE49-F238E27FC236}">
                <a16:creationId xmlns:a16="http://schemas.microsoft.com/office/drawing/2014/main" id="{96CA0932-605B-4E71-B8D3-C72AAAA4A91A}"/>
              </a:ext>
            </a:extLst>
          </p:cNvPr>
          <p:cNvCxnSpPr/>
          <p:nvPr userDrawn="1"/>
        </p:nvCxnSpPr>
        <p:spPr>
          <a:xfrm>
            <a:off x="1219359" y="5253391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Rett linje 11">
            <a:extLst>
              <a:ext uri="{FF2B5EF4-FFF2-40B4-BE49-F238E27FC236}">
                <a16:creationId xmlns:a16="http://schemas.microsoft.com/office/drawing/2014/main" id="{2DF21B92-9FD0-4B71-ACA2-7C1925BD0C2C}"/>
              </a:ext>
            </a:extLst>
          </p:cNvPr>
          <p:cNvCxnSpPr/>
          <p:nvPr userDrawn="1"/>
        </p:nvCxnSpPr>
        <p:spPr>
          <a:xfrm>
            <a:off x="1219359" y="3172376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Rett linje 12">
            <a:extLst>
              <a:ext uri="{FF2B5EF4-FFF2-40B4-BE49-F238E27FC236}">
                <a16:creationId xmlns:a16="http://schemas.microsoft.com/office/drawing/2014/main" id="{91D61EF0-049D-489F-9607-DBC47717D8D1}"/>
              </a:ext>
            </a:extLst>
          </p:cNvPr>
          <p:cNvCxnSpPr/>
          <p:nvPr userDrawn="1"/>
        </p:nvCxnSpPr>
        <p:spPr>
          <a:xfrm>
            <a:off x="1219359" y="3866048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Rett linje 13">
            <a:extLst>
              <a:ext uri="{FF2B5EF4-FFF2-40B4-BE49-F238E27FC236}">
                <a16:creationId xmlns:a16="http://schemas.microsoft.com/office/drawing/2014/main" id="{0C7BCC08-99D7-4973-9AB5-A63BAB7784DB}"/>
              </a:ext>
            </a:extLst>
          </p:cNvPr>
          <p:cNvCxnSpPr/>
          <p:nvPr userDrawn="1"/>
        </p:nvCxnSpPr>
        <p:spPr>
          <a:xfrm>
            <a:off x="1219359" y="4559720"/>
            <a:ext cx="9651619" cy="0"/>
          </a:xfrm>
          <a:prstGeom prst="line">
            <a:avLst/>
          </a:prstGeom>
          <a:ln w="6350">
            <a:solidFill>
              <a:srgbClr val="5B7F8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913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esentasj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e 2">
            <a:extLst>
              <a:ext uri="{FF2B5EF4-FFF2-40B4-BE49-F238E27FC236}">
                <a16:creationId xmlns:a16="http://schemas.microsoft.com/office/drawing/2014/main" id="{A3732E95-11BD-4ACF-B5AD-A1CC4F0DB8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1606" cy="1886934"/>
          </a:xfrm>
          <a:prstGeom prst="rect">
            <a:avLst/>
          </a:prstGeom>
        </p:spPr>
      </p:pic>
      <p:pic>
        <p:nvPicPr>
          <p:cNvPr id="5" name="Bilde 4">
            <a:extLst>
              <a:ext uri="{FF2B5EF4-FFF2-40B4-BE49-F238E27FC236}">
                <a16:creationId xmlns:a16="http://schemas.microsoft.com/office/drawing/2014/main" id="{A57E41EB-05AD-44D6-997C-D31E1B44F1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855" y="1883484"/>
            <a:ext cx="7418289" cy="27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47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ning rediger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3">
            <a:extLst>
              <a:ext uri="{FF2B5EF4-FFF2-40B4-BE49-F238E27FC236}">
                <a16:creationId xmlns:a16="http://schemas.microsoft.com/office/drawing/2014/main" id="{410EA91D-3B36-4F01-BD03-074913EC30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31" name="Title 1"/>
          <p:cNvSpPr>
            <a:spLocks noGrp="1"/>
          </p:cNvSpPr>
          <p:nvPr>
            <p:ph type="ctrTitle" hasCustomPrompt="1"/>
          </p:nvPr>
        </p:nvSpPr>
        <p:spPr>
          <a:xfrm>
            <a:off x="1630018" y="2305881"/>
            <a:ext cx="8984972" cy="1709530"/>
          </a:xfrm>
          <a:ln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lang="nb-NO" sz="10000" b="1" i="0" u="none" strike="noStrike" baseline="0" smtClean="0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nb-NO" noProof="0" dirty="0"/>
              <a:t>Takk!</a:t>
            </a:r>
          </a:p>
        </p:txBody>
      </p:sp>
    </p:spTree>
    <p:extLst>
      <p:ext uri="{BB962C8B-B14F-4D97-AF65-F5344CB8AC3E}">
        <p14:creationId xmlns:p14="http://schemas.microsoft.com/office/powerpoint/2010/main" val="2359149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359" y="551048"/>
            <a:ext cx="9651619" cy="1311128"/>
          </a:xfrm>
          <a:prstGeom prst="rect">
            <a:avLst/>
          </a:prstGeom>
        </p:spPr>
        <p:txBody>
          <a:bodyPr vert="horz" wrap="square" lIns="91440" tIns="0" rIns="91440" bIns="45720" rtlCol="0" anchor="ctr" anchorCtr="0">
            <a:normAutofit/>
          </a:bodyPr>
          <a:lstStyle/>
          <a:p>
            <a:r>
              <a:rPr lang="nb-NO" noProof="0" dirty="0"/>
              <a:t>Klikk for å redigere tittelstil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358" y="1862176"/>
            <a:ext cx="9651619" cy="3978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b-NO" noProof="0" dirty="0"/>
              <a:t>Rediger tekststiler i malen</a:t>
            </a:r>
          </a:p>
          <a:p>
            <a:pPr lvl="1"/>
            <a:r>
              <a:rPr lang="nb-NO" noProof="0" dirty="0"/>
              <a:t>Andre nivå</a:t>
            </a:r>
          </a:p>
          <a:p>
            <a:pPr lvl="2"/>
            <a:r>
              <a:rPr lang="nb-NO" noProof="0" dirty="0"/>
              <a:t>Tredje nivå</a:t>
            </a:r>
          </a:p>
          <a:p>
            <a:pPr lvl="3"/>
            <a:r>
              <a:rPr lang="nb-NO" noProof="0" dirty="0"/>
              <a:t>Fjerde nivå</a:t>
            </a:r>
          </a:p>
          <a:p>
            <a:pPr lvl="4"/>
            <a:r>
              <a:rPr lang="nb-NO" noProof="0" dirty="0"/>
              <a:t>Femte nivå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12E8B8B0-4BD5-4668-9018-913E276A5FE9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461" y="6071524"/>
            <a:ext cx="3025540" cy="78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48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90" r:id="rId5"/>
    <p:sldLayoutId id="2147483674" r:id="rId6"/>
    <p:sldLayoutId id="2147483691" r:id="rId7"/>
    <p:sldLayoutId id="2147483675" r:id="rId8"/>
    <p:sldLayoutId id="2147483692" r:id="rId9"/>
    <p:sldLayoutId id="2147483676" r:id="rId10"/>
    <p:sldLayoutId id="2147483666" r:id="rId11"/>
    <p:sldLayoutId id="2147483667" r:id="rId12"/>
    <p:sldLayoutId id="2147483694" r:id="rId13"/>
    <p:sldLayoutId id="2147483670" r:id="rId14"/>
    <p:sldLayoutId id="2147483695" r:id="rId15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74247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15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defRPr sz="2400" kern="1200">
          <a:solidFill>
            <a:srgbClr val="274247"/>
          </a:solidFill>
          <a:latin typeface="+mn-lt"/>
          <a:ea typeface="+mn-ea"/>
          <a:cs typeface="+mn-cs"/>
        </a:defRPr>
      </a:lvl1pPr>
      <a:lvl2pPr marL="396079" indent="-144029" algn="l" defTabSz="914446" rtl="0" eaLnBrk="1" latinLnBrk="0" hangingPunct="1">
        <a:lnSpc>
          <a:spcPct val="150000"/>
        </a:lnSpc>
        <a:spcBef>
          <a:spcPts val="0"/>
        </a:spcBef>
        <a:spcAft>
          <a:spcPts val="600"/>
        </a:spcAft>
        <a:buSzPct val="100000"/>
        <a:buFont typeface="Arial" panose="020B0604020202020204" pitchFamily="34" charset="0"/>
        <a:buChar char="◦"/>
        <a:defRPr sz="1800" kern="1200">
          <a:solidFill>
            <a:srgbClr val="274247"/>
          </a:solidFill>
          <a:latin typeface="+mn-lt"/>
          <a:ea typeface="+mn-ea"/>
          <a:cs typeface="+mn-cs"/>
        </a:defRPr>
      </a:lvl2pPr>
      <a:lvl3pPr marL="522104" indent="-108022" algn="l" defTabSz="914446" rtl="0" eaLnBrk="1" latinLnBrk="0" hangingPunct="1">
        <a:lnSpc>
          <a:spcPct val="150000"/>
        </a:lnSpc>
        <a:spcBef>
          <a:spcPts val="300"/>
        </a:spcBef>
        <a:spcAft>
          <a:spcPts val="400"/>
        </a:spcAft>
        <a:buFont typeface="Open Sans" panose="020B0606030504020204" pitchFamily="34" charset="0"/>
        <a:buChar char="­"/>
        <a:defRPr sz="1400" kern="1200">
          <a:solidFill>
            <a:srgbClr val="274247"/>
          </a:solidFill>
          <a:latin typeface="+mn-lt"/>
          <a:ea typeface="+mn-ea"/>
          <a:cs typeface="+mn-cs"/>
        </a:defRPr>
      </a:lvl3pPr>
      <a:lvl4pPr marL="666133" indent="-99020" algn="l" defTabSz="914446" rtl="0" eaLnBrk="1" latinLnBrk="0" hangingPunct="1">
        <a:lnSpc>
          <a:spcPct val="150000"/>
        </a:lnSpc>
        <a:spcBef>
          <a:spcPts val="250"/>
        </a:spcBef>
        <a:buFont typeface="Open Sans" panose="020B0606030504020204" pitchFamily="34" charset="0"/>
        <a:buChar char="­"/>
        <a:defRPr sz="1050" kern="1200">
          <a:solidFill>
            <a:srgbClr val="274247"/>
          </a:solidFill>
          <a:latin typeface="+mn-lt"/>
          <a:ea typeface="+mn-ea"/>
          <a:cs typeface="+mn-cs"/>
        </a:defRPr>
      </a:lvl4pPr>
      <a:lvl5pPr marL="774155" indent="-90018" algn="l" defTabSz="914446" rtl="0" eaLnBrk="1" latinLnBrk="0" hangingPunct="1">
        <a:lnSpc>
          <a:spcPct val="150000"/>
        </a:lnSpc>
        <a:spcBef>
          <a:spcPts val="250"/>
        </a:spcBef>
        <a:buFont typeface="Open Sans" panose="020B0606030504020204" pitchFamily="34" charset="0"/>
        <a:buChar char="­"/>
        <a:defRPr sz="1000" kern="1200">
          <a:solidFill>
            <a:srgbClr val="274247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dctools.github.io/HandbookSDC/Handbook-on-Statistical-Disclosure-Control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419842-592E-434F-A9A0-9D056E8796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u="sng" noProof="0" dirty="0"/>
              <a:t>Example from textbook: </a:t>
            </a:r>
            <a:br>
              <a:rPr lang="en-GB" noProof="0" dirty="0"/>
            </a:br>
            <a:r>
              <a:rPr lang="en-GB" noProof="0" dirty="0"/>
              <a:t>Rules at Statistics Netherlands for microdata protection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A0095F8-98D7-4910-A38E-D9915094E0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27.Nov 2025</a:t>
            </a:r>
          </a:p>
        </p:txBody>
      </p:sp>
    </p:spTree>
    <p:extLst>
      <p:ext uri="{BB962C8B-B14F-4D97-AF65-F5344CB8AC3E}">
        <p14:creationId xmlns:p14="http://schemas.microsoft.com/office/powerpoint/2010/main" val="429471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4632189E-0C85-466E-8062-F4139B9C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Content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EE970C6A-ADB2-4F64-934B-FDB02A6E63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19359" y="1862176"/>
            <a:ext cx="10561515" cy="3978862"/>
          </a:xfrm>
        </p:spPr>
        <p:txBody>
          <a:bodyPr/>
          <a:lstStyle/>
          <a:p>
            <a:r>
              <a:rPr lang="en-GB" noProof="0" dirty="0">
                <a:hlinkClick r:id="rId2"/>
              </a:rPr>
              <a:t>Handbook on Statistical Disclosure Control</a:t>
            </a:r>
            <a:r>
              <a:rPr lang="en-GB" noProof="0" dirty="0"/>
              <a:t> </a:t>
            </a:r>
            <a:r>
              <a:rPr lang="en-GB" sz="1800" noProof="0" dirty="0"/>
              <a:t>https://sdctools.github.io/HandbookSDC/Handbook-on-Statistical-Disclosure-Control.pdf</a:t>
            </a:r>
            <a:endParaRPr lang="en-GB" sz="1600" noProof="0" dirty="0"/>
          </a:p>
          <a:p>
            <a:endParaRPr lang="en-GB" noProof="0" dirty="0"/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1A00066A-C5A5-B596-9828-82362BE8DD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5574" b="39683"/>
          <a:stretch>
            <a:fillRect/>
          </a:stretch>
        </p:blipFill>
        <p:spPr>
          <a:xfrm>
            <a:off x="1542028" y="3252534"/>
            <a:ext cx="8302500" cy="3348000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80F0D88C-AD3A-261B-C020-3BC34A475199}"/>
              </a:ext>
            </a:extLst>
          </p:cNvPr>
          <p:cNvSpPr/>
          <p:nvPr/>
        </p:nvSpPr>
        <p:spPr>
          <a:xfrm>
            <a:off x="1542029" y="3173304"/>
            <a:ext cx="7857152" cy="34272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3937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6A50D12-9C4F-C737-EA65-9CE8C12A8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Rules for microdata protection at </a:t>
            </a:r>
            <a:br>
              <a:rPr lang="en-GB" noProof="0" dirty="0"/>
            </a:br>
            <a:r>
              <a:rPr lang="en-GB" noProof="0" dirty="0"/>
              <a:t>Statistics Netherlands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D5E5940-B984-73DD-E33D-B5F8BC87EEC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noProof="0" dirty="0"/>
              <a:t>Easy applicable rules to avoid re-identification</a:t>
            </a:r>
          </a:p>
          <a:p>
            <a:pPr>
              <a:lnSpc>
                <a:spcPct val="200000"/>
              </a:lnSpc>
            </a:pPr>
            <a:r>
              <a:rPr lang="en-GB" noProof="0" dirty="0"/>
              <a:t>Concentrates on the </a:t>
            </a:r>
            <a:r>
              <a:rPr lang="en-GB" u="sng" noProof="0" dirty="0"/>
              <a:t>identifying variables</a:t>
            </a:r>
            <a:r>
              <a:rPr lang="en-GB" noProof="0" dirty="0"/>
              <a:t> (</a:t>
            </a:r>
            <a:r>
              <a:rPr lang="en-GB" u="sng" noProof="0" dirty="0"/>
              <a:t>key-variables)</a:t>
            </a:r>
            <a:endParaRPr lang="en-GB" noProof="0" dirty="0"/>
          </a:p>
          <a:p>
            <a:pPr>
              <a:lnSpc>
                <a:spcPct val="200000"/>
              </a:lnSpc>
            </a:pPr>
            <a:r>
              <a:rPr lang="en-GB" noProof="0" dirty="0"/>
              <a:t>Based on the “ARGUS threshold-rule”: </a:t>
            </a:r>
          </a:p>
          <a:p>
            <a:pPr marL="167468" lvl="1" indent="0">
              <a:lnSpc>
                <a:spcPct val="200000"/>
              </a:lnSpc>
              <a:buNone/>
            </a:pPr>
            <a:r>
              <a:rPr lang="en-GB" i="1" noProof="0" dirty="0"/>
              <a:t>Avoid population-uniques AND individuals with keys that are rare in the population</a:t>
            </a:r>
          </a:p>
          <a:p>
            <a:pPr marL="167468" lvl="1" indent="0">
              <a:lnSpc>
                <a:spcPct val="200000"/>
              </a:lnSpc>
              <a:buNone/>
            </a:pPr>
            <a:r>
              <a:rPr lang="en-GB" i="1" noProof="0" dirty="0"/>
              <a:t>Keys = a combination of identifying variables</a:t>
            </a:r>
          </a:p>
          <a:p>
            <a:pPr>
              <a:lnSpc>
                <a:spcPct val="200000"/>
              </a:lnSpc>
            </a:pPr>
            <a:r>
              <a:rPr lang="en-GB" noProof="0" dirty="0"/>
              <a:t>The rules are primarily for microdata about persons</a:t>
            </a:r>
          </a:p>
          <a:p>
            <a:pPr marL="0" indent="0">
              <a:buNone/>
            </a:pPr>
            <a:endParaRPr lang="en-GB" noProof="0" dirty="0"/>
          </a:p>
        </p:txBody>
      </p:sp>
      <p:sp>
        <p:nvSpPr>
          <p:cNvPr id="6" name="Rektangel: avrundede hjørner 5">
            <a:extLst>
              <a:ext uri="{FF2B5EF4-FFF2-40B4-BE49-F238E27FC236}">
                <a16:creationId xmlns:a16="http://schemas.microsoft.com/office/drawing/2014/main" id="{B879A402-2063-0A6A-A879-8D1F8AE9F86B}"/>
              </a:ext>
            </a:extLst>
          </p:cNvPr>
          <p:cNvSpPr/>
          <p:nvPr/>
        </p:nvSpPr>
        <p:spPr>
          <a:xfrm>
            <a:off x="1360967" y="5078929"/>
            <a:ext cx="4735033" cy="606056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8452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EDEBFDA-C87B-9086-8473-7E6B1FB29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noProof="0" dirty="0"/>
              <a:t>Rules for microdata protection at </a:t>
            </a:r>
            <a:br>
              <a:rPr lang="en-GB" noProof="0" dirty="0"/>
            </a:br>
            <a:r>
              <a:rPr lang="en-GB" noProof="0" dirty="0"/>
              <a:t>Statistics Netherlands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B3D51FF-6597-9386-B070-5C8E86AEE60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GB" sz="2400" noProof="0" dirty="0"/>
              <a:t>Microdata for researchers (scientific use file - SUF)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dirty="0"/>
              <a:t>6</a:t>
            </a:r>
            <a:r>
              <a:rPr lang="en-GB" sz="2000" noProof="0" dirty="0"/>
              <a:t> rules</a:t>
            </a:r>
            <a:endParaRPr lang="en-GB" sz="1600" noProof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noProof="0" dirty="0"/>
              <a:t>Microdata for the general public (public use file - PUF)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noProof="0" dirty="0"/>
              <a:t>PUFs need more protection than SUFs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noProof="0" dirty="0"/>
              <a:t>10 rules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2000" noProof="0" dirty="0"/>
              <a:t>Higher thresholds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2671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6000" noProof="0" dirty="0"/>
              <a:t> 6 rules for protecting microdata for researchers</a:t>
            </a:r>
          </a:p>
        </p:txBody>
      </p:sp>
    </p:spTree>
    <p:extLst>
      <p:ext uri="{BB962C8B-B14F-4D97-AF65-F5344CB8AC3E}">
        <p14:creationId xmlns:p14="http://schemas.microsoft.com/office/powerpoint/2010/main" val="348054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6174AA5-B3AE-E93C-5BB8-FF6D4A313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Microdata for researchers I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464DB77-4D6E-65EA-EEE7-4F71E10D320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noProof="0" dirty="0"/>
              <a:t>Remove direct identifiers (ex: name, e-mail, address…)</a:t>
            </a:r>
          </a:p>
          <a:p>
            <a:pPr marL="457200" indent="-457200">
              <a:buFont typeface="+mj-lt"/>
              <a:buAutoNum type="arabicPeriod"/>
            </a:pPr>
            <a:r>
              <a:rPr lang="en-GB" noProof="0" dirty="0"/>
              <a:t>Divide indirect identifiers into:</a:t>
            </a:r>
          </a:p>
          <a:p>
            <a:pPr marL="681818" lvl="1" indent="-514350">
              <a:buFont typeface="+mj-lt"/>
              <a:buAutoNum type="romanLcPeriod"/>
            </a:pPr>
            <a:r>
              <a:rPr lang="en-GB" sz="2000" noProof="0" dirty="0"/>
              <a:t>Extremely identifying variables </a:t>
            </a:r>
          </a:p>
          <a:p>
            <a:pPr marL="681818" lvl="1" indent="-514350">
              <a:buFont typeface="+mj-lt"/>
              <a:buAutoNum type="romanLcPeriod"/>
            </a:pPr>
            <a:r>
              <a:rPr lang="en-GB" sz="2000" noProof="0" dirty="0"/>
              <a:t>Very identifying variables</a:t>
            </a:r>
          </a:p>
          <a:p>
            <a:pPr marL="681818" lvl="1" indent="-514350">
              <a:buFont typeface="+mj-lt"/>
              <a:buAutoNum type="romanLcPeriod"/>
            </a:pPr>
            <a:r>
              <a:rPr lang="en-GB" sz="2000" noProof="0" dirty="0"/>
              <a:t>Identifying variables</a:t>
            </a:r>
          </a:p>
        </p:txBody>
      </p:sp>
      <p:sp>
        <p:nvSpPr>
          <p:cNvPr id="7" name="Snakkeboble: rektangel 6">
            <a:extLst>
              <a:ext uri="{FF2B5EF4-FFF2-40B4-BE49-F238E27FC236}">
                <a16:creationId xmlns:a16="http://schemas.microsoft.com/office/drawing/2014/main" id="{831555EE-EDEA-170A-F975-A89377110083}"/>
              </a:ext>
            </a:extLst>
          </p:cNvPr>
          <p:cNvSpPr/>
          <p:nvPr/>
        </p:nvSpPr>
        <p:spPr>
          <a:xfrm>
            <a:off x="7307580" y="4033373"/>
            <a:ext cx="4777740" cy="1200150"/>
          </a:xfrm>
          <a:prstGeom prst="wedgeRectCallout">
            <a:avLst>
              <a:gd name="adj1" fmla="val -98584"/>
              <a:gd name="adj2" fmla="val -489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noProof="0" dirty="0"/>
              <a:t>Very visible variables </a:t>
            </a:r>
          </a:p>
          <a:p>
            <a:pPr algn="ctr"/>
            <a:r>
              <a:rPr lang="en-GB" sz="1800" noProof="0" dirty="0"/>
              <a:t>Ex: gender, ethnicity etc.</a:t>
            </a:r>
          </a:p>
        </p:txBody>
      </p:sp>
      <p:sp>
        <p:nvSpPr>
          <p:cNvPr id="8" name="Snakkeboble: rektangel 7">
            <a:extLst>
              <a:ext uri="{FF2B5EF4-FFF2-40B4-BE49-F238E27FC236}">
                <a16:creationId xmlns:a16="http://schemas.microsoft.com/office/drawing/2014/main" id="{B1645E21-2A4C-9B40-171B-9B35A8CF0174}"/>
              </a:ext>
            </a:extLst>
          </p:cNvPr>
          <p:cNvSpPr/>
          <p:nvPr/>
        </p:nvSpPr>
        <p:spPr>
          <a:xfrm>
            <a:off x="7307580" y="2722245"/>
            <a:ext cx="4777740" cy="1200150"/>
          </a:xfrm>
          <a:prstGeom prst="wedgeRectCallout">
            <a:avLst>
              <a:gd name="adj1" fmla="val -83990"/>
              <a:gd name="adj2" fmla="val 148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noProof="0" dirty="0"/>
              <a:t>Direct regional variables </a:t>
            </a:r>
          </a:p>
          <a:p>
            <a:pPr algn="ctr"/>
            <a:r>
              <a:rPr lang="en-GB" sz="1800" noProof="0" dirty="0"/>
              <a:t>Ex: name of region, municipality, city etc. </a:t>
            </a:r>
          </a:p>
        </p:txBody>
      </p:sp>
      <p:sp>
        <p:nvSpPr>
          <p:cNvPr id="9" name="Snakkeboble: rektangel 8">
            <a:extLst>
              <a:ext uri="{FF2B5EF4-FFF2-40B4-BE49-F238E27FC236}">
                <a16:creationId xmlns:a16="http://schemas.microsoft.com/office/drawing/2014/main" id="{34E7F3DC-142A-BF22-E501-6F3CBBF1D034}"/>
              </a:ext>
            </a:extLst>
          </p:cNvPr>
          <p:cNvSpPr/>
          <p:nvPr/>
        </p:nvSpPr>
        <p:spPr>
          <a:xfrm>
            <a:off x="7307580" y="5351941"/>
            <a:ext cx="4777740" cy="1200150"/>
          </a:xfrm>
          <a:prstGeom prst="wedgeRectCallout">
            <a:avLst>
              <a:gd name="adj1" fmla="val -111263"/>
              <a:gd name="adj2" fmla="val -1108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noProof="0" dirty="0"/>
              <a:t>Ex: Education, Occupation, etc</a:t>
            </a:r>
          </a:p>
        </p:txBody>
      </p:sp>
    </p:spTree>
    <p:extLst>
      <p:ext uri="{BB962C8B-B14F-4D97-AF65-F5344CB8AC3E}">
        <p14:creationId xmlns:p14="http://schemas.microsoft.com/office/powerpoint/2010/main" val="56992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BE0FFC-E4B8-688F-3F14-B54089FCC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517CBA0-BF73-8C15-722C-E93708F14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Microdata for researchers I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419ADEA-16A3-2239-B44F-E24A050160B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noProof="0" dirty="0"/>
              <a:t>Remove direct identifiers (ex: name, e-mail, address…)</a:t>
            </a:r>
          </a:p>
          <a:p>
            <a:pPr marL="457200" indent="-457200">
              <a:buFont typeface="+mj-lt"/>
              <a:buAutoNum type="arabicPeriod"/>
            </a:pPr>
            <a:r>
              <a:rPr lang="en-GB" noProof="0" dirty="0"/>
              <a:t>Divide indirect identifiers into:</a:t>
            </a:r>
          </a:p>
          <a:p>
            <a:pPr marL="681818" lvl="1" indent="-514350">
              <a:buFont typeface="+mj-lt"/>
              <a:buAutoNum type="romanLcPeriod"/>
            </a:pPr>
            <a:r>
              <a:rPr lang="en-GB" sz="2000" noProof="0" dirty="0"/>
              <a:t>Extremely identifying variables </a:t>
            </a:r>
          </a:p>
          <a:p>
            <a:pPr marL="681818" lvl="1" indent="-514350">
              <a:buFont typeface="+mj-lt"/>
              <a:buAutoNum type="romanLcPeriod"/>
            </a:pPr>
            <a:r>
              <a:rPr lang="en-GB" sz="2000" noProof="0" dirty="0"/>
              <a:t>Very identifying variables</a:t>
            </a:r>
          </a:p>
          <a:p>
            <a:pPr marL="681818" lvl="1" indent="-514350">
              <a:buFont typeface="+mj-lt"/>
              <a:buAutoNum type="romanLcPeriod"/>
            </a:pPr>
            <a:r>
              <a:rPr lang="en-GB" sz="2000" noProof="0" dirty="0"/>
              <a:t>Identifying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GB" noProof="0" dirty="0"/>
              <a:t>For every combination of</a:t>
            </a:r>
          </a:p>
        </p:txBody>
      </p:sp>
      <p:sp>
        <p:nvSpPr>
          <p:cNvPr id="10" name="Rektangel: avrundede hjørner 9">
            <a:extLst>
              <a:ext uri="{FF2B5EF4-FFF2-40B4-BE49-F238E27FC236}">
                <a16:creationId xmlns:a16="http://schemas.microsoft.com/office/drawing/2014/main" id="{F0F3E8F3-CB64-103E-C04A-DB30686F71A0}"/>
              </a:ext>
            </a:extLst>
          </p:cNvPr>
          <p:cNvSpPr/>
          <p:nvPr/>
        </p:nvSpPr>
        <p:spPr>
          <a:xfrm>
            <a:off x="1684021" y="5510452"/>
            <a:ext cx="3200400" cy="591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/>
              <a:t>Extremely identifying</a:t>
            </a:r>
          </a:p>
        </p:txBody>
      </p:sp>
      <p:sp>
        <p:nvSpPr>
          <p:cNvPr id="11" name="Rektangel: avrundede hjørner 10">
            <a:extLst>
              <a:ext uri="{FF2B5EF4-FFF2-40B4-BE49-F238E27FC236}">
                <a16:creationId xmlns:a16="http://schemas.microsoft.com/office/drawing/2014/main" id="{314D40CE-6F1F-291F-E75E-88F16D8879F6}"/>
              </a:ext>
            </a:extLst>
          </p:cNvPr>
          <p:cNvSpPr/>
          <p:nvPr/>
        </p:nvSpPr>
        <p:spPr>
          <a:xfrm>
            <a:off x="5230812" y="5510451"/>
            <a:ext cx="3200400" cy="591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/>
              <a:t>Very identifying</a:t>
            </a:r>
          </a:p>
        </p:txBody>
      </p:sp>
      <p:sp>
        <p:nvSpPr>
          <p:cNvPr id="12" name="Rektangel: avrundede hjørner 11">
            <a:extLst>
              <a:ext uri="{FF2B5EF4-FFF2-40B4-BE49-F238E27FC236}">
                <a16:creationId xmlns:a16="http://schemas.microsoft.com/office/drawing/2014/main" id="{3B0B6F13-18CB-72ED-068A-00C5A7FFA873}"/>
              </a:ext>
            </a:extLst>
          </p:cNvPr>
          <p:cNvSpPr/>
          <p:nvPr/>
        </p:nvSpPr>
        <p:spPr>
          <a:xfrm>
            <a:off x="8777603" y="5510450"/>
            <a:ext cx="3200400" cy="591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/>
              <a:t>Identifying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7210A32D-7D44-406B-7C95-0ED302640442}"/>
              </a:ext>
            </a:extLst>
          </p:cNvPr>
          <p:cNvSpPr txBox="1"/>
          <p:nvPr/>
        </p:nvSpPr>
        <p:spPr>
          <a:xfrm>
            <a:off x="1219359" y="6306952"/>
            <a:ext cx="8566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noProof="0" dirty="0"/>
              <a:t>... there should be at least 100 occurrences in the population (F</a:t>
            </a:r>
            <a:r>
              <a:rPr lang="en-GB" sz="2000" baseline="-25000" noProof="0" dirty="0"/>
              <a:t>k</a:t>
            </a:r>
            <a:r>
              <a:rPr lang="en-GB" sz="2000" noProof="0" dirty="0"/>
              <a:t> = 100)</a:t>
            </a:r>
          </a:p>
        </p:txBody>
      </p:sp>
    </p:spTree>
    <p:extLst>
      <p:ext uri="{BB962C8B-B14F-4D97-AF65-F5344CB8AC3E}">
        <p14:creationId xmlns:p14="http://schemas.microsoft.com/office/powerpoint/2010/main" val="3690641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5E26746-E50F-4437-0810-C13CCCED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Microdata for researchers II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8CFCD92-3584-8CA0-9D93-7561A9FEF6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GB" noProof="0" dirty="0"/>
              <a:t>The maximum level of detail for occupation, firm and level of education is determined by the most detailed direct regional variable. </a:t>
            </a:r>
          </a:p>
          <a:p>
            <a:pPr marL="0" indent="0">
              <a:buNone/>
            </a:pPr>
            <a:r>
              <a:rPr lang="en-GB" noProof="0" dirty="0"/>
              <a:t>Ex: 				</a:t>
            </a:r>
          </a:p>
        </p:txBody>
      </p:sp>
      <p:sp>
        <p:nvSpPr>
          <p:cNvPr id="6" name="Rektangel: avrundede hjørner 5">
            <a:extLst>
              <a:ext uri="{FF2B5EF4-FFF2-40B4-BE49-F238E27FC236}">
                <a16:creationId xmlns:a16="http://schemas.microsoft.com/office/drawing/2014/main" id="{79C620D0-F450-54C1-C998-1EC8CDF9DAF5}"/>
              </a:ext>
            </a:extLst>
          </p:cNvPr>
          <p:cNvSpPr/>
          <p:nvPr/>
        </p:nvSpPr>
        <p:spPr>
          <a:xfrm>
            <a:off x="2328530" y="4306185"/>
            <a:ext cx="3708255" cy="24848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/>
              <a:t>County</a:t>
            </a:r>
          </a:p>
          <a:p>
            <a:pPr algn="ctr"/>
            <a:endParaRPr lang="en-GB" sz="2000" noProof="0" dirty="0"/>
          </a:p>
          <a:p>
            <a:pPr algn="ctr"/>
            <a:endParaRPr lang="en-GB" sz="2000" noProof="0" dirty="0"/>
          </a:p>
          <a:p>
            <a:pPr algn="ctr"/>
            <a:endParaRPr lang="en-GB" sz="2000" noProof="0" dirty="0"/>
          </a:p>
          <a:p>
            <a:pPr algn="ctr"/>
            <a:endParaRPr lang="en-GB" sz="2000" noProof="0" dirty="0"/>
          </a:p>
          <a:p>
            <a:pPr algn="ctr"/>
            <a:endParaRPr lang="en-GB" sz="2000" noProof="0" dirty="0"/>
          </a:p>
          <a:p>
            <a:pPr algn="ctr"/>
            <a:endParaRPr lang="en-GB" sz="2000" noProof="0" dirty="0"/>
          </a:p>
        </p:txBody>
      </p:sp>
      <p:sp>
        <p:nvSpPr>
          <p:cNvPr id="7" name="Rektangel: avrundede hjørner 6">
            <a:extLst>
              <a:ext uri="{FF2B5EF4-FFF2-40B4-BE49-F238E27FC236}">
                <a16:creationId xmlns:a16="http://schemas.microsoft.com/office/drawing/2014/main" id="{A28F0E33-A9FD-CE45-536A-474E86920ADF}"/>
              </a:ext>
            </a:extLst>
          </p:cNvPr>
          <p:cNvSpPr/>
          <p:nvPr/>
        </p:nvSpPr>
        <p:spPr>
          <a:xfrm>
            <a:off x="2513845" y="5209667"/>
            <a:ext cx="3329171" cy="141568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/>
              <a:t>Municipality</a:t>
            </a:r>
          </a:p>
          <a:p>
            <a:pPr algn="ctr"/>
            <a:endParaRPr lang="en-GB" sz="2000" noProof="0" dirty="0"/>
          </a:p>
          <a:p>
            <a:pPr algn="ctr"/>
            <a:endParaRPr lang="en-GB" sz="2000" noProof="0" dirty="0"/>
          </a:p>
        </p:txBody>
      </p:sp>
      <p:sp>
        <p:nvSpPr>
          <p:cNvPr id="8" name="Rektangel: avrundede hjørner 7">
            <a:extLst>
              <a:ext uri="{FF2B5EF4-FFF2-40B4-BE49-F238E27FC236}">
                <a16:creationId xmlns:a16="http://schemas.microsoft.com/office/drawing/2014/main" id="{37CC9E26-019A-CADE-2CAD-24D8C5D13E04}"/>
              </a:ext>
            </a:extLst>
          </p:cNvPr>
          <p:cNvSpPr/>
          <p:nvPr/>
        </p:nvSpPr>
        <p:spPr>
          <a:xfrm>
            <a:off x="3526766" y="6041813"/>
            <a:ext cx="2124226" cy="39825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/>
              <a:t>City</a:t>
            </a:r>
          </a:p>
        </p:txBody>
      </p:sp>
      <p:sp>
        <p:nvSpPr>
          <p:cNvPr id="9" name="Rektangel: avrundede hjørner 8">
            <a:extLst>
              <a:ext uri="{FF2B5EF4-FFF2-40B4-BE49-F238E27FC236}">
                <a16:creationId xmlns:a16="http://schemas.microsoft.com/office/drawing/2014/main" id="{5700CDDA-706F-22F1-E46A-7C29B7AC9087}"/>
              </a:ext>
            </a:extLst>
          </p:cNvPr>
          <p:cNvSpPr/>
          <p:nvPr/>
        </p:nvSpPr>
        <p:spPr>
          <a:xfrm>
            <a:off x="7563611" y="4829312"/>
            <a:ext cx="2391157" cy="45046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/>
              <a:t>Occupation</a:t>
            </a:r>
          </a:p>
        </p:txBody>
      </p:sp>
      <p:sp>
        <p:nvSpPr>
          <p:cNvPr id="10" name="Rektangel: avrundede hjørner 9">
            <a:extLst>
              <a:ext uri="{FF2B5EF4-FFF2-40B4-BE49-F238E27FC236}">
                <a16:creationId xmlns:a16="http://schemas.microsoft.com/office/drawing/2014/main" id="{F106C526-CD67-3CFB-885B-759B17A40E63}"/>
              </a:ext>
            </a:extLst>
          </p:cNvPr>
          <p:cNvSpPr/>
          <p:nvPr/>
        </p:nvSpPr>
        <p:spPr>
          <a:xfrm>
            <a:off x="7563610" y="5490004"/>
            <a:ext cx="2391157" cy="45046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/>
              <a:t>Firm</a:t>
            </a:r>
          </a:p>
        </p:txBody>
      </p:sp>
      <p:sp>
        <p:nvSpPr>
          <p:cNvPr id="11" name="Rektangel: avrundede hjørner 10">
            <a:extLst>
              <a:ext uri="{FF2B5EF4-FFF2-40B4-BE49-F238E27FC236}">
                <a16:creationId xmlns:a16="http://schemas.microsoft.com/office/drawing/2014/main" id="{1D8AADFB-940A-D321-C110-5FE118C940B4}"/>
              </a:ext>
            </a:extLst>
          </p:cNvPr>
          <p:cNvSpPr/>
          <p:nvPr/>
        </p:nvSpPr>
        <p:spPr>
          <a:xfrm>
            <a:off x="7563609" y="6150696"/>
            <a:ext cx="2391157" cy="45046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/>
              <a:t>Education</a:t>
            </a:r>
          </a:p>
        </p:txBody>
      </p:sp>
      <p:sp>
        <p:nvSpPr>
          <p:cNvPr id="12" name="Pil: høyre 11">
            <a:extLst>
              <a:ext uri="{FF2B5EF4-FFF2-40B4-BE49-F238E27FC236}">
                <a16:creationId xmlns:a16="http://schemas.microsoft.com/office/drawing/2014/main" id="{F45A6BB2-2856-24E2-0B39-A070276DACE8}"/>
              </a:ext>
            </a:extLst>
          </p:cNvPr>
          <p:cNvSpPr/>
          <p:nvPr/>
        </p:nvSpPr>
        <p:spPr>
          <a:xfrm>
            <a:off x="5225797" y="6021849"/>
            <a:ext cx="1740406" cy="40233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91C6F744-204D-DD16-86EF-DD3710DDB33C}"/>
              </a:ext>
            </a:extLst>
          </p:cNvPr>
          <p:cNvSpPr txBox="1"/>
          <p:nvPr/>
        </p:nvSpPr>
        <p:spPr>
          <a:xfrm>
            <a:off x="2967730" y="3771200"/>
            <a:ext cx="287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Geographical variable</a:t>
            </a:r>
            <a:endParaRPr lang="nb-NO" sz="1800" dirty="0"/>
          </a:p>
        </p:txBody>
      </p:sp>
    </p:spTree>
    <p:extLst>
      <p:ext uri="{BB962C8B-B14F-4D97-AF65-F5344CB8AC3E}">
        <p14:creationId xmlns:p14="http://schemas.microsoft.com/office/powerpoint/2010/main" val="226734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221107-E1F5-BEBF-E448-9CAC2D2B6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331F3C8-4877-4449-8BC6-C79382FE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Microdata for researchers III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C519480-D9F4-AD96-1054-C38FD2CDCE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5"/>
            </a:pPr>
            <a:r>
              <a:rPr lang="en-GB" noProof="0" dirty="0"/>
              <a:t>A region that can be distinguished in the microdata should contain at least 10 000 inhabitants. </a:t>
            </a:r>
          </a:p>
          <a:p>
            <a:pPr marL="457200" indent="-457200">
              <a:buFont typeface="+mj-lt"/>
              <a:buAutoNum type="arabicPeriod" startAt="5"/>
            </a:pPr>
            <a:endParaRPr lang="en-GB" noProof="0" dirty="0"/>
          </a:p>
          <a:p>
            <a:pPr marL="457200" indent="-457200">
              <a:buFont typeface="+mj-lt"/>
              <a:buAutoNum type="arabicPeriod" startAt="6"/>
            </a:pPr>
            <a:r>
              <a:rPr lang="en-GB" noProof="0" dirty="0"/>
              <a:t>For panel data: Direct regional variables should not be released</a:t>
            </a:r>
          </a:p>
          <a:p>
            <a:pPr marL="167468" lvl="1" indent="0">
              <a:buNone/>
            </a:pPr>
            <a:r>
              <a:rPr lang="en-GB" noProof="0" dirty="0"/>
              <a:t>	</a:t>
            </a:r>
            <a:r>
              <a:rPr lang="en-GB" sz="2000" u="sng" noProof="0" dirty="0"/>
              <a:t>Reason</a:t>
            </a:r>
            <a:r>
              <a:rPr lang="en-GB" sz="2000" noProof="0" dirty="0"/>
              <a:t>: panel data is more identifying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25802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2F5630-1868-59F8-30BC-3A32075C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A852A2-7D28-72DA-6865-46D81244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Methods applied if rules are violated…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50DE549-3B53-8F71-C508-35DE3AD9C31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endParaRPr lang="en-GB" dirty="0"/>
          </a:p>
          <a:p>
            <a:r>
              <a:rPr lang="en-GB" noProof="0" dirty="0"/>
              <a:t>Important to find a balance to reduce loss of information</a:t>
            </a:r>
          </a:p>
          <a:p>
            <a:endParaRPr lang="en-GB" noProof="0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12273F50-EB0F-E9AE-133A-73BBE7353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051399"/>
              </p:ext>
            </p:extLst>
          </p:nvPr>
        </p:nvGraphicFramePr>
        <p:xfrm>
          <a:off x="1554938" y="2480007"/>
          <a:ext cx="8128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0783056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87794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b-NO" sz="2400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400" dirty="0"/>
                        <a:t>Information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37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400" dirty="0"/>
                        <a:t>1) Global </a:t>
                      </a:r>
                      <a:r>
                        <a:rPr lang="nb-NO" sz="2400" dirty="0" err="1"/>
                        <a:t>recoding</a:t>
                      </a:r>
                      <a:endParaRPr lang="nb-NO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400" dirty="0"/>
                        <a:t>Less </a:t>
                      </a:r>
                      <a:r>
                        <a:rPr lang="nb-NO" sz="2400" dirty="0" err="1"/>
                        <a:t>detail</a:t>
                      </a:r>
                      <a:endParaRPr lang="nb-NO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721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400" dirty="0"/>
                        <a:t>2) </a:t>
                      </a:r>
                      <a:r>
                        <a:rPr lang="nb-NO" sz="2400" dirty="0" err="1"/>
                        <a:t>Suppression</a:t>
                      </a:r>
                      <a:endParaRPr lang="nb-NO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4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2400" dirty="0"/>
                        <a:t>No </a:t>
                      </a:r>
                      <a:r>
                        <a:rPr lang="nb-NO" sz="2400" dirty="0" err="1"/>
                        <a:t>information</a:t>
                      </a:r>
                      <a:endParaRPr lang="nb-NO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347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55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B344786-F565-32F1-8FA0-27B6D1C6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Note: the rules are for person data!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C1C3B6E-0D7B-4C66-753C-F88629F4D56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noProof="0" dirty="0"/>
              <a:t>They are not appropriate for business data</a:t>
            </a:r>
          </a:p>
          <a:p>
            <a:pPr>
              <a:lnSpc>
                <a:spcPct val="200000"/>
              </a:lnSpc>
            </a:pPr>
            <a:r>
              <a:rPr lang="en-GB" noProof="0" dirty="0"/>
              <a:t>Business data have more skewed distributions</a:t>
            </a:r>
          </a:p>
          <a:p>
            <a:pPr>
              <a:lnSpc>
                <a:spcPct val="200000"/>
              </a:lnSpc>
            </a:pPr>
            <a:r>
              <a:rPr lang="en-GB" noProof="0" dirty="0"/>
              <a:t>In general, it is very hard to make safe business microdata </a:t>
            </a:r>
          </a:p>
        </p:txBody>
      </p:sp>
    </p:spTree>
    <p:extLst>
      <p:ext uri="{BB962C8B-B14F-4D97-AF65-F5344CB8AC3E}">
        <p14:creationId xmlns:p14="http://schemas.microsoft.com/office/powerpoint/2010/main" val="79994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8225F-9B65-E844-7C9D-206C1F083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tel 3">
            <a:extLst>
              <a:ext uri="{FF2B5EF4-FFF2-40B4-BE49-F238E27FC236}">
                <a16:creationId xmlns:a16="http://schemas.microsoft.com/office/drawing/2014/main" id="{C5892A58-062C-E90A-4D36-798004BEC5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76994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SSB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A9D49"/>
      </a:accent1>
      <a:accent2>
        <a:srgbClr val="274247"/>
      </a:accent2>
      <a:accent3>
        <a:srgbClr val="9582BB"/>
      </a:accent3>
      <a:accent4>
        <a:srgbClr val="3396D2"/>
      </a:accent4>
      <a:accent5>
        <a:srgbClr val="D2BC2A"/>
      </a:accent5>
      <a:accent6>
        <a:srgbClr val="8CA9AA"/>
      </a:accent6>
      <a:hlink>
        <a:srgbClr val="0563C1"/>
      </a:hlink>
      <a:folHlink>
        <a:srgbClr val="954F72"/>
      </a:folHlink>
    </a:clrScheme>
    <a:fontScheme name="SSB">
      <a:majorFont>
        <a:latin typeface="Roboto Condensed"/>
        <a:ea typeface=""/>
        <a:cs typeface=""/>
      </a:majorFont>
      <a:minorFont>
        <a:latin typeface="Open Sans"/>
        <a:ea typeface=""/>
        <a:cs typeface="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sbmal_2018.potx" id="{27830765-609B-40A7-BB85-0ABEDBC2E87E}" vid="{F965F0D8-9B15-47DC-9966-C4B99B4DF52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14C7EF7DA17C4C842950F82EA203DF" ma:contentTypeVersion="7" ma:contentTypeDescription="Create a new document." ma:contentTypeScope="" ma:versionID="3aa4873081dd2e098511f287a3ae1412">
  <xsd:schema xmlns:xsd="http://www.w3.org/2001/XMLSchema" xmlns:xs="http://www.w3.org/2001/XMLSchema" xmlns:p="http://schemas.microsoft.com/office/2006/metadata/properties" xmlns:ns2="74da3df6-f4aa-478a-a5d8-aa90ad35bd94" xmlns:ns3="2bf0940c-1ce9-4c89-931e-efbf8864587d" targetNamespace="http://schemas.microsoft.com/office/2006/metadata/properties" ma:root="true" ma:fieldsID="1fb1b4c73b136ba6c27ea1011c2e20fb" ns2:_="" ns3:_="">
    <xsd:import namespace="74da3df6-f4aa-478a-a5d8-aa90ad35bd94"/>
    <xsd:import namespace="2bf0940c-1ce9-4c89-931e-efbf886458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a3df6-f4aa-478a-a5d8-aa90ad35bd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f0940c-1ce9-4c89-931e-efbf8864587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5B21A6-4BC1-49F8-B567-7F7CF8B881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C60F9C-C20B-4526-AA17-F705D3E3B42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1F5E8AB-3EE2-4CB1-8355-A1638E40C7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da3df6-f4aa-478a-a5d8-aa90ad35bd94"/>
    <ds:schemaRef ds:uri="2bf0940c-1ce9-4c89-931e-efbf886458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ssbmal_2018</Template>
  <TotalTime>2686</TotalTime>
  <Words>496</Words>
  <Application>Microsoft Office PowerPoint</Application>
  <PresentationFormat>Widescreen</PresentationFormat>
  <Paragraphs>86</Paragraphs>
  <Slides>12</Slides>
  <Notes>3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12</vt:i4>
      </vt:variant>
    </vt:vector>
  </HeadingPairs>
  <TitlesOfParts>
    <vt:vector size="17" baseType="lpstr">
      <vt:lpstr>Roboto Condensed</vt:lpstr>
      <vt:lpstr>Aptos</vt:lpstr>
      <vt:lpstr>Arial</vt:lpstr>
      <vt:lpstr>Open Sans</vt:lpstr>
      <vt:lpstr>Office-tema</vt:lpstr>
      <vt:lpstr>Example from textbook:  Rules at Statistics Netherlands for microdata protection</vt:lpstr>
      <vt:lpstr>Content</vt:lpstr>
      <vt:lpstr>Rules for microdata protection at  Statistics Netherlands</vt:lpstr>
      <vt:lpstr>Rules for microdata protection at  Statistics Netherlands</vt:lpstr>
      <vt:lpstr> 6 rules for protecting microdata for researchers</vt:lpstr>
      <vt:lpstr>Microdata for researchers I</vt:lpstr>
      <vt:lpstr>Microdata for researchers I</vt:lpstr>
      <vt:lpstr>Microdata for researchers II</vt:lpstr>
      <vt:lpstr>Microdata for researchers III</vt:lpstr>
      <vt:lpstr>Methods applied if rules are violated…</vt:lpstr>
      <vt:lpstr>Note: the rules are for person data!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Bøvelstad, Hege Marie</dc:creator>
  <cp:lastModifiedBy>Bøvelstad, Hege Marie</cp:lastModifiedBy>
  <cp:revision>2</cp:revision>
  <dcterms:created xsi:type="dcterms:W3CDTF">2025-11-06T15:25:11Z</dcterms:created>
  <dcterms:modified xsi:type="dcterms:W3CDTF">2025-11-27T15:04:14Z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bb1e25a-de7b-40d6-a859-76fe2317f0af_Enabled">
    <vt:lpwstr>True</vt:lpwstr>
  </property>
  <property fmtid="{D5CDD505-2E9C-101B-9397-08002B2CF9AE}" pid="3" name="MSIP_Label_ebb1e25a-de7b-40d6-a859-76fe2317f0af_SiteId">
    <vt:lpwstr>c7217092-b240-4e1d-bd61-fa97ba975cbc</vt:lpwstr>
  </property>
  <property fmtid="{D5CDD505-2E9C-101B-9397-08002B2CF9AE}" pid="4" name="MSIP_Label_ebb1e25a-de7b-40d6-a859-76fe2317f0af_Owner">
    <vt:lpwstr>thb@ssb.no</vt:lpwstr>
  </property>
  <property fmtid="{D5CDD505-2E9C-101B-9397-08002B2CF9AE}" pid="5" name="MSIP_Label_ebb1e25a-de7b-40d6-a859-76fe2317f0af_SetDate">
    <vt:lpwstr>2019-01-10T08:15:32.1166307Z</vt:lpwstr>
  </property>
  <property fmtid="{D5CDD505-2E9C-101B-9397-08002B2CF9AE}" pid="6" name="MSIP_Label_ebb1e25a-de7b-40d6-a859-76fe2317f0af_Name">
    <vt:lpwstr>Åpent</vt:lpwstr>
  </property>
  <property fmtid="{D5CDD505-2E9C-101B-9397-08002B2CF9AE}" pid="7" name="MSIP_Label_ebb1e25a-de7b-40d6-a859-76fe2317f0af_Application">
    <vt:lpwstr>Microsoft Azure Information Protection</vt:lpwstr>
  </property>
  <property fmtid="{D5CDD505-2E9C-101B-9397-08002B2CF9AE}" pid="8" name="MSIP_Label_ebb1e25a-de7b-40d6-a859-76fe2317f0af_Extended_MSFT_Method">
    <vt:lpwstr>Automatic</vt:lpwstr>
  </property>
  <property fmtid="{D5CDD505-2E9C-101B-9397-08002B2CF9AE}" pid="9" name="Sensitivity">
    <vt:lpwstr>Åpent</vt:lpwstr>
  </property>
  <property fmtid="{D5CDD505-2E9C-101B-9397-08002B2CF9AE}" pid="10" name="ContentTypeId">
    <vt:lpwstr>0x0101006014C7EF7DA17C4C842950F82EA203DF</vt:lpwstr>
  </property>
</Properties>
</file>