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8"/>
  </p:notesMasterIdLst>
  <p:sldIdLst>
    <p:sldId id="256" r:id="rId5"/>
    <p:sldId id="282" r:id="rId6"/>
    <p:sldId id="286" r:id="rId7"/>
    <p:sldId id="278" r:id="rId8"/>
    <p:sldId id="284" r:id="rId9"/>
    <p:sldId id="283" r:id="rId10"/>
    <p:sldId id="279" r:id="rId11"/>
    <p:sldId id="285" r:id="rId12"/>
    <p:sldId id="267" r:id="rId13"/>
    <p:sldId id="287" r:id="rId14"/>
    <p:sldId id="277" r:id="rId15"/>
    <p:sldId id="269" r:id="rId16"/>
    <p:sldId id="261" r:id="rId17"/>
  </p:sldIdLst>
  <p:sldSz cx="12192000" cy="6858000"/>
  <p:notesSz cx="6858000" cy="9144000"/>
  <p:embeddedFontLs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Roboto Condensed" panose="02000000000000000000" pitchFamily="2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82"/>
    <a:srgbClr val="2742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2C0D7-06DC-493E-80D8-3FD8481D253C}" v="1099" dt="2025-11-19T08:57:13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3" autoAdjust="0"/>
    <p:restoredTop sz="85755" autoAdjust="0"/>
  </p:normalViewPr>
  <p:slideViewPr>
    <p:cSldViewPr snapToGrid="0">
      <p:cViewPr varScale="1">
        <p:scale>
          <a:sx n="91" d="100"/>
          <a:sy n="91" d="100"/>
        </p:scale>
        <p:origin x="564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øvelstad, Hege Marie" userId="0cc1585d-fca6-4efa-a578-2aa962acf962" providerId="ADAL" clId="{D9B01F66-A7A2-4F9D-A7DC-78146CD17F48}"/>
    <pc:docChg chg="undo redo custSel addSld delSld modSld sldOrd">
      <pc:chgData name="Bøvelstad, Hege Marie" userId="0cc1585d-fca6-4efa-a578-2aa962acf962" providerId="ADAL" clId="{D9B01F66-A7A2-4F9D-A7DC-78146CD17F48}" dt="2025-11-19T08:57:13.887" v="4227" actId="20577"/>
      <pc:docMkLst>
        <pc:docMk/>
      </pc:docMkLst>
      <pc:sldChg chg="modSp mod">
        <pc:chgData name="Bøvelstad, Hege Marie" userId="0cc1585d-fca6-4efa-a578-2aa962acf962" providerId="ADAL" clId="{D9B01F66-A7A2-4F9D-A7DC-78146CD17F48}" dt="2025-11-19T08:44:03.730" v="4211" actId="20577"/>
        <pc:sldMkLst>
          <pc:docMk/>
          <pc:sldMk cId="429471054" sldId="256"/>
        </pc:sldMkLst>
        <pc:spChg chg="mod">
          <ac:chgData name="Bøvelstad, Hege Marie" userId="0cc1585d-fca6-4efa-a578-2aa962acf962" providerId="ADAL" clId="{D9B01F66-A7A2-4F9D-A7DC-78146CD17F48}" dt="2025-11-19T08:44:03.730" v="4211" actId="20577"/>
          <ac:spMkLst>
            <pc:docMk/>
            <pc:sldMk cId="429471054" sldId="256"/>
            <ac:spMk id="5" creationId="{1A0095F8-98D7-4910-A38E-D9915094E096}"/>
          </ac:spMkLst>
        </pc:spChg>
      </pc:sldChg>
      <pc:sldChg chg="del">
        <pc:chgData name="Bøvelstad, Hege Marie" userId="0cc1585d-fca6-4efa-a578-2aa962acf962" providerId="ADAL" clId="{D9B01F66-A7A2-4F9D-A7DC-78146CD17F48}" dt="2025-11-17T14:48:30.393" v="514" actId="2696"/>
        <pc:sldMkLst>
          <pc:docMk/>
          <pc:sldMk cId="2704670153" sldId="263"/>
        </pc:sldMkLst>
      </pc:sldChg>
      <pc:sldChg chg="modSp mod modAnim">
        <pc:chgData name="Bøvelstad, Hege Marie" userId="0cc1585d-fca6-4efa-a578-2aa962acf962" providerId="ADAL" clId="{D9B01F66-A7A2-4F9D-A7DC-78146CD17F48}" dt="2025-11-18T10:00:46.777" v="3716" actId="20577"/>
        <pc:sldMkLst>
          <pc:docMk/>
          <pc:sldMk cId="3412133797" sldId="267"/>
        </pc:sldMkLst>
        <pc:spChg chg="mod">
          <ac:chgData name="Bøvelstad, Hege Marie" userId="0cc1585d-fca6-4efa-a578-2aa962acf962" providerId="ADAL" clId="{D9B01F66-A7A2-4F9D-A7DC-78146CD17F48}" dt="2025-11-18T10:00:46.777" v="3716" actId="20577"/>
          <ac:spMkLst>
            <pc:docMk/>
            <pc:sldMk cId="3412133797" sldId="267"/>
            <ac:spMk id="2" creationId="{C151511D-2122-771A-11A9-5D16A75487F0}"/>
          </ac:spMkLst>
        </pc:spChg>
        <pc:spChg chg="mod">
          <ac:chgData name="Bøvelstad, Hege Marie" userId="0cc1585d-fca6-4efa-a578-2aa962acf962" providerId="ADAL" clId="{D9B01F66-A7A2-4F9D-A7DC-78146CD17F48}" dt="2025-11-18T09:59:59.191" v="3715" actId="20577"/>
          <ac:spMkLst>
            <pc:docMk/>
            <pc:sldMk cId="3412133797" sldId="267"/>
            <ac:spMk id="3" creationId="{729DEDC4-B9F5-BED0-179C-6856C06D43C1}"/>
          </ac:spMkLst>
        </pc:spChg>
      </pc:sldChg>
      <pc:sldChg chg="ord">
        <pc:chgData name="Bøvelstad, Hege Marie" userId="0cc1585d-fca6-4efa-a578-2aa962acf962" providerId="ADAL" clId="{D9B01F66-A7A2-4F9D-A7DC-78146CD17F48}" dt="2025-11-18T10:04:59.651" v="3864"/>
        <pc:sldMkLst>
          <pc:docMk/>
          <pc:sldMk cId="953797610" sldId="269"/>
        </pc:sldMkLst>
      </pc:sldChg>
      <pc:sldChg chg="ord modAnim">
        <pc:chgData name="Bøvelstad, Hege Marie" userId="0cc1585d-fca6-4efa-a578-2aa962acf962" providerId="ADAL" clId="{D9B01F66-A7A2-4F9D-A7DC-78146CD17F48}" dt="2025-11-18T10:27:46.226" v="4199"/>
        <pc:sldMkLst>
          <pc:docMk/>
          <pc:sldMk cId="3317170111" sldId="277"/>
        </pc:sldMkLst>
      </pc:sldChg>
      <pc:sldChg chg="modSp mod ord modAnim">
        <pc:chgData name="Bøvelstad, Hege Marie" userId="0cc1585d-fca6-4efa-a578-2aa962acf962" providerId="ADAL" clId="{D9B01F66-A7A2-4F9D-A7DC-78146CD17F48}" dt="2025-11-19T08:49:07.589" v="4215" actId="20577"/>
        <pc:sldMkLst>
          <pc:docMk/>
          <pc:sldMk cId="3548216476" sldId="278"/>
        </pc:sldMkLst>
        <pc:spChg chg="mod">
          <ac:chgData name="Bøvelstad, Hege Marie" userId="0cc1585d-fca6-4efa-a578-2aa962acf962" providerId="ADAL" clId="{D9B01F66-A7A2-4F9D-A7DC-78146CD17F48}" dt="2025-11-19T08:49:04.333" v="4213" actId="6549"/>
          <ac:spMkLst>
            <pc:docMk/>
            <pc:sldMk cId="3548216476" sldId="278"/>
            <ac:spMk id="2" creationId="{69F0528B-07D8-952D-25D1-245E5A3EBFE9}"/>
          </ac:spMkLst>
        </pc:spChg>
        <pc:spChg chg="mod">
          <ac:chgData name="Bøvelstad, Hege Marie" userId="0cc1585d-fca6-4efa-a578-2aa962acf962" providerId="ADAL" clId="{D9B01F66-A7A2-4F9D-A7DC-78146CD17F48}" dt="2025-11-19T08:49:07.589" v="4215" actId="20577"/>
          <ac:spMkLst>
            <pc:docMk/>
            <pc:sldMk cId="3548216476" sldId="278"/>
            <ac:spMk id="3" creationId="{C40582C8-CDDC-AA0B-296C-BE4918F377BE}"/>
          </ac:spMkLst>
        </pc:spChg>
      </pc:sldChg>
      <pc:sldChg chg="modSp mod ord modAnim modNotesTx">
        <pc:chgData name="Bøvelstad, Hege Marie" userId="0cc1585d-fca6-4efa-a578-2aa962acf962" providerId="ADAL" clId="{D9B01F66-A7A2-4F9D-A7DC-78146CD17F48}" dt="2025-11-19T08:49:29.010" v="4223" actId="6549"/>
        <pc:sldMkLst>
          <pc:docMk/>
          <pc:sldMk cId="425769256" sldId="279"/>
        </pc:sldMkLst>
        <pc:spChg chg="mod">
          <ac:chgData name="Bøvelstad, Hege Marie" userId="0cc1585d-fca6-4efa-a578-2aa962acf962" providerId="ADAL" clId="{D9B01F66-A7A2-4F9D-A7DC-78146CD17F48}" dt="2025-11-19T08:49:29.010" v="4223" actId="6549"/>
          <ac:spMkLst>
            <pc:docMk/>
            <pc:sldMk cId="425769256" sldId="279"/>
            <ac:spMk id="2" creationId="{0A27B1F1-CA2E-09AF-17FC-4B1A704CEE9E}"/>
          </ac:spMkLst>
        </pc:spChg>
        <pc:spChg chg="mod">
          <ac:chgData name="Bøvelstad, Hege Marie" userId="0cc1585d-fca6-4efa-a578-2aa962acf962" providerId="ADAL" clId="{D9B01F66-A7A2-4F9D-A7DC-78146CD17F48}" dt="2025-11-19T08:49:26.322" v="4222" actId="20577"/>
          <ac:spMkLst>
            <pc:docMk/>
            <pc:sldMk cId="425769256" sldId="279"/>
            <ac:spMk id="3" creationId="{C1DA9DB8-4B12-18CA-F6F6-38CDF03B4315}"/>
          </ac:spMkLst>
        </pc:spChg>
      </pc:sldChg>
      <pc:sldChg chg="del ord">
        <pc:chgData name="Bøvelstad, Hege Marie" userId="0cc1585d-fca6-4efa-a578-2aa962acf962" providerId="ADAL" clId="{D9B01F66-A7A2-4F9D-A7DC-78146CD17F48}" dt="2025-11-18T10:03:03.058" v="3771" actId="47"/>
        <pc:sldMkLst>
          <pc:docMk/>
          <pc:sldMk cId="3489329767" sldId="280"/>
        </pc:sldMkLst>
      </pc:sldChg>
      <pc:sldChg chg="modSp new del mod ord">
        <pc:chgData name="Bøvelstad, Hege Marie" userId="0cc1585d-fca6-4efa-a578-2aa962acf962" providerId="ADAL" clId="{D9B01F66-A7A2-4F9D-A7DC-78146CD17F48}" dt="2025-11-17T15:46:14.996" v="2001" actId="2696"/>
        <pc:sldMkLst>
          <pc:docMk/>
          <pc:sldMk cId="1404223492" sldId="281"/>
        </pc:sldMkLst>
      </pc:sldChg>
      <pc:sldChg chg="new del">
        <pc:chgData name="Bøvelstad, Hege Marie" userId="0cc1585d-fca6-4efa-a578-2aa962acf962" providerId="ADAL" clId="{D9B01F66-A7A2-4F9D-A7DC-78146CD17F48}" dt="2025-11-13T12:15:12.302" v="7" actId="680"/>
        <pc:sldMkLst>
          <pc:docMk/>
          <pc:sldMk cId="3352262659" sldId="281"/>
        </pc:sldMkLst>
      </pc:sldChg>
      <pc:sldChg chg="addSp delSp modSp new mod ord modAnim">
        <pc:chgData name="Bøvelstad, Hege Marie" userId="0cc1585d-fca6-4efa-a578-2aa962acf962" providerId="ADAL" clId="{D9B01F66-A7A2-4F9D-A7DC-78146CD17F48}" dt="2025-11-18T10:10:41.516" v="3952"/>
        <pc:sldMkLst>
          <pc:docMk/>
          <pc:sldMk cId="3153403323" sldId="282"/>
        </pc:sldMkLst>
        <pc:spChg chg="mod">
          <ac:chgData name="Bøvelstad, Hege Marie" userId="0cc1585d-fca6-4efa-a578-2aa962acf962" providerId="ADAL" clId="{D9B01F66-A7A2-4F9D-A7DC-78146CD17F48}" dt="2025-11-18T10:07:02.677" v="3900" actId="20577"/>
          <ac:spMkLst>
            <pc:docMk/>
            <pc:sldMk cId="3153403323" sldId="282"/>
            <ac:spMk id="2" creationId="{11B8F39D-56E6-7386-46D2-6BF0BED784CE}"/>
          </ac:spMkLst>
        </pc:spChg>
        <pc:spChg chg="add del mod">
          <ac:chgData name="Bøvelstad, Hege Marie" userId="0cc1585d-fca6-4efa-a578-2aa962acf962" providerId="ADAL" clId="{D9B01F66-A7A2-4F9D-A7DC-78146CD17F48}" dt="2025-11-18T08:47:58.077" v="2433" actId="20577"/>
          <ac:spMkLst>
            <pc:docMk/>
            <pc:sldMk cId="3153403323" sldId="282"/>
            <ac:spMk id="3" creationId="{3DEDFCE0-3BF6-A58C-A51C-4B9B1C4D686F}"/>
          </ac:spMkLst>
        </pc:spChg>
      </pc:sldChg>
      <pc:sldChg chg="modSp new del mod">
        <pc:chgData name="Bøvelstad, Hege Marie" userId="0cc1585d-fca6-4efa-a578-2aa962acf962" providerId="ADAL" clId="{D9B01F66-A7A2-4F9D-A7DC-78146CD17F48}" dt="2025-11-17T15:02:38.567" v="640" actId="2696"/>
        <pc:sldMkLst>
          <pc:docMk/>
          <pc:sldMk cId="660890773" sldId="283"/>
        </pc:sldMkLst>
      </pc:sldChg>
      <pc:sldChg chg="modSp add mod modAnim modNotesTx">
        <pc:chgData name="Bøvelstad, Hege Marie" userId="0cc1585d-fca6-4efa-a578-2aa962acf962" providerId="ADAL" clId="{D9B01F66-A7A2-4F9D-A7DC-78146CD17F48}" dt="2025-11-19T08:49:16.702" v="4219" actId="6549"/>
        <pc:sldMkLst>
          <pc:docMk/>
          <pc:sldMk cId="2140070134" sldId="283"/>
        </pc:sldMkLst>
        <pc:spChg chg="mod">
          <ac:chgData name="Bøvelstad, Hege Marie" userId="0cc1585d-fca6-4efa-a578-2aa962acf962" providerId="ADAL" clId="{D9B01F66-A7A2-4F9D-A7DC-78146CD17F48}" dt="2025-11-19T08:49:16.702" v="4219" actId="6549"/>
          <ac:spMkLst>
            <pc:docMk/>
            <pc:sldMk cId="2140070134" sldId="283"/>
            <ac:spMk id="2" creationId="{0CBE21B0-2928-F4B6-C5E6-6309FCD019C6}"/>
          </ac:spMkLst>
        </pc:spChg>
        <pc:spChg chg="mod">
          <ac:chgData name="Bøvelstad, Hege Marie" userId="0cc1585d-fca6-4efa-a578-2aa962acf962" providerId="ADAL" clId="{D9B01F66-A7A2-4F9D-A7DC-78146CD17F48}" dt="2025-11-19T08:49:13.740" v="4218" actId="20577"/>
          <ac:spMkLst>
            <pc:docMk/>
            <pc:sldMk cId="2140070134" sldId="283"/>
            <ac:spMk id="3" creationId="{A2F18CA5-075C-D426-5E0A-554C04741FF7}"/>
          </ac:spMkLst>
        </pc:spChg>
      </pc:sldChg>
      <pc:sldChg chg="modSp add mod modAnim">
        <pc:chgData name="Bøvelstad, Hege Marie" userId="0cc1585d-fca6-4efa-a578-2aa962acf962" providerId="ADAL" clId="{D9B01F66-A7A2-4F9D-A7DC-78146CD17F48}" dt="2025-11-19T08:49:21.333" v="4220" actId="6549"/>
        <pc:sldMkLst>
          <pc:docMk/>
          <pc:sldMk cId="1744858121" sldId="284"/>
        </pc:sldMkLst>
        <pc:spChg chg="mod">
          <ac:chgData name="Bøvelstad, Hege Marie" userId="0cc1585d-fca6-4efa-a578-2aa962acf962" providerId="ADAL" clId="{D9B01F66-A7A2-4F9D-A7DC-78146CD17F48}" dt="2025-11-19T08:49:21.333" v="4220" actId="6549"/>
          <ac:spMkLst>
            <pc:docMk/>
            <pc:sldMk cId="1744858121" sldId="284"/>
            <ac:spMk id="2" creationId="{604C2599-B098-5809-CDCE-8661AB99A540}"/>
          </ac:spMkLst>
        </pc:spChg>
        <pc:spChg chg="mod">
          <ac:chgData name="Bøvelstad, Hege Marie" userId="0cc1585d-fca6-4efa-a578-2aa962acf962" providerId="ADAL" clId="{D9B01F66-A7A2-4F9D-A7DC-78146CD17F48}" dt="2025-11-18T09:23:19.137" v="2626" actId="15"/>
          <ac:spMkLst>
            <pc:docMk/>
            <pc:sldMk cId="1744858121" sldId="284"/>
            <ac:spMk id="3" creationId="{69369A65-B546-3885-CEF9-2676EE92BBB6}"/>
          </ac:spMkLst>
        </pc:spChg>
      </pc:sldChg>
      <pc:sldChg chg="modSp add mod modAnim">
        <pc:chgData name="Bøvelstad, Hege Marie" userId="0cc1585d-fca6-4efa-a578-2aa962acf962" providerId="ADAL" clId="{D9B01F66-A7A2-4F9D-A7DC-78146CD17F48}" dt="2025-11-19T08:57:13.887" v="4227" actId="20577"/>
        <pc:sldMkLst>
          <pc:docMk/>
          <pc:sldMk cId="668440650" sldId="285"/>
        </pc:sldMkLst>
        <pc:spChg chg="mod">
          <ac:chgData name="Bøvelstad, Hege Marie" userId="0cc1585d-fca6-4efa-a578-2aa962acf962" providerId="ADAL" clId="{D9B01F66-A7A2-4F9D-A7DC-78146CD17F48}" dt="2025-11-19T08:49:34.119" v="4224" actId="6549"/>
          <ac:spMkLst>
            <pc:docMk/>
            <pc:sldMk cId="668440650" sldId="285"/>
            <ac:spMk id="2" creationId="{4CDAF14F-FD6D-2B1A-A856-A0CC776F189C}"/>
          </ac:spMkLst>
        </pc:spChg>
        <pc:spChg chg="mod">
          <ac:chgData name="Bøvelstad, Hege Marie" userId="0cc1585d-fca6-4efa-a578-2aa962acf962" providerId="ADAL" clId="{D9B01F66-A7A2-4F9D-A7DC-78146CD17F48}" dt="2025-11-19T08:57:13.887" v="4227" actId="20577"/>
          <ac:spMkLst>
            <pc:docMk/>
            <pc:sldMk cId="668440650" sldId="285"/>
            <ac:spMk id="3" creationId="{88D8796B-EEC3-5641-A572-3DEE4D0D49DF}"/>
          </ac:spMkLst>
        </pc:spChg>
      </pc:sldChg>
      <pc:sldChg chg="modSp new modNotesTx">
        <pc:chgData name="Bøvelstad, Hege Marie" userId="0cc1585d-fca6-4efa-a578-2aa962acf962" providerId="ADAL" clId="{D9B01F66-A7A2-4F9D-A7DC-78146CD17F48}" dt="2025-11-18T10:08:44.803" v="3949" actId="20577"/>
        <pc:sldMkLst>
          <pc:docMk/>
          <pc:sldMk cId="1549522534" sldId="286"/>
        </pc:sldMkLst>
        <pc:spChg chg="mod">
          <ac:chgData name="Bøvelstad, Hege Marie" userId="0cc1585d-fca6-4efa-a578-2aa962acf962" providerId="ADAL" clId="{D9B01F66-A7A2-4F9D-A7DC-78146CD17F48}" dt="2025-11-18T08:43:03.437" v="2407" actId="404"/>
          <ac:spMkLst>
            <pc:docMk/>
            <pc:sldMk cId="1549522534" sldId="286"/>
            <ac:spMk id="2" creationId="{0769F314-C04B-BA21-44AB-CA880F1E5828}"/>
          </ac:spMkLst>
        </pc:spChg>
        <pc:spChg chg="mod">
          <ac:chgData name="Bøvelstad, Hege Marie" userId="0cc1585d-fca6-4efa-a578-2aa962acf962" providerId="ADAL" clId="{D9B01F66-A7A2-4F9D-A7DC-78146CD17F48}" dt="2025-11-18T08:54:03.251" v="2580" actId="255"/>
          <ac:spMkLst>
            <pc:docMk/>
            <pc:sldMk cId="1549522534" sldId="286"/>
            <ac:spMk id="3" creationId="{1EBB8E83-AA02-0579-7909-D905D8A6E472}"/>
          </ac:spMkLst>
        </pc:spChg>
      </pc:sldChg>
      <pc:sldChg chg="delSp modSp new mod ord">
        <pc:chgData name="Bøvelstad, Hege Marie" userId="0cc1585d-fca6-4efa-a578-2aa962acf962" providerId="ADAL" clId="{D9B01F66-A7A2-4F9D-A7DC-78146CD17F48}" dt="2025-11-18T10:04:59.651" v="3864"/>
        <pc:sldMkLst>
          <pc:docMk/>
          <pc:sldMk cId="2544416769" sldId="287"/>
        </pc:sldMkLst>
        <pc:spChg chg="mod">
          <ac:chgData name="Bøvelstad, Hege Marie" userId="0cc1585d-fca6-4efa-a578-2aa962acf962" providerId="ADAL" clId="{D9B01F66-A7A2-4F9D-A7DC-78146CD17F48}" dt="2025-11-18T10:04:23.130" v="3856" actId="122"/>
          <ac:spMkLst>
            <pc:docMk/>
            <pc:sldMk cId="2544416769" sldId="287"/>
            <ac:spMk id="2" creationId="{5BB8F7F8-60AB-3E16-BB20-67D17D93F6AA}"/>
          </ac:spMkLst>
        </pc:spChg>
        <pc:spChg chg="del">
          <ac:chgData name="Bøvelstad, Hege Marie" userId="0cc1585d-fca6-4efa-a578-2aa962acf962" providerId="ADAL" clId="{D9B01F66-A7A2-4F9D-A7DC-78146CD17F48}" dt="2025-11-18T10:01:07.822" v="3720" actId="478"/>
          <ac:spMkLst>
            <pc:docMk/>
            <pc:sldMk cId="2544416769" sldId="287"/>
            <ac:spMk id="3" creationId="{AA35919B-7C65-A55B-BC68-16E540AD22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6FD06-4C3D-4141-AF9A-B4671D2C7BD3}" type="datetimeFigureOut">
              <a:rPr lang="nb-NO" smtClean="0"/>
              <a:t>17.11.2025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31ED7-634E-4B35-B450-1ED3E025F1C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33125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31ED7-634E-4B35-B450-1ED3E025F1CE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014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I </a:t>
            </a:r>
            <a:r>
              <a:rPr lang="nb-NO" dirty="0" err="1"/>
              <a:t>will</a:t>
            </a:r>
            <a:r>
              <a:rPr lang="nb-NO" dirty="0"/>
              <a:t> </a:t>
            </a:r>
            <a:r>
              <a:rPr lang="nb-NO" dirty="0" err="1"/>
              <a:t>go</a:t>
            </a:r>
            <a:r>
              <a:rPr lang="nb-NO" dirty="0"/>
              <a:t> </a:t>
            </a:r>
            <a:r>
              <a:rPr lang="nb-NO" dirty="0" err="1"/>
              <a:t>through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roules</a:t>
            </a:r>
            <a:r>
              <a:rPr lang="nb-NO" dirty="0"/>
              <a:t> in </a:t>
            </a:r>
            <a:r>
              <a:rPr lang="nb-NO" dirty="0" err="1"/>
              <a:t>detail</a:t>
            </a:r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31ED7-634E-4B35-B450-1ED3E025F1CE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62371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One </a:t>
            </a:r>
            <a:r>
              <a:rPr lang="nb-NO" dirty="0" err="1"/>
              <a:t>you</a:t>
            </a:r>
            <a:r>
              <a:rPr lang="nb-NO" dirty="0"/>
              <a:t> have used </a:t>
            </a:r>
            <a:r>
              <a:rPr lang="nb-NO" dirty="0" err="1"/>
              <a:t>recommended</a:t>
            </a:r>
            <a:r>
              <a:rPr lang="nb-NO" dirty="0"/>
              <a:t> </a:t>
            </a:r>
            <a:r>
              <a:rPr lang="nb-NO" dirty="0" err="1"/>
              <a:t>tools</a:t>
            </a:r>
            <a:r>
              <a:rPr lang="nb-NO" dirty="0"/>
              <a:t>, do </a:t>
            </a:r>
            <a:r>
              <a:rPr lang="nb-NO" dirty="0" err="1"/>
              <a:t>respect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result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suppression</a:t>
            </a:r>
            <a:r>
              <a:rPr lang="nb-NO" dirty="0"/>
              <a:t>.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means</a:t>
            </a:r>
            <a:r>
              <a:rPr lang="nb-NO" dirty="0"/>
              <a:t>: do not </a:t>
            </a:r>
            <a:r>
              <a:rPr lang="nb-NO" dirty="0" err="1"/>
              <a:t>remove</a:t>
            </a:r>
            <a:r>
              <a:rPr lang="nb-NO" dirty="0"/>
              <a:t>, </a:t>
            </a:r>
            <a:r>
              <a:rPr lang="nb-NO" dirty="0" err="1"/>
              <a:t>change</a:t>
            </a:r>
            <a:r>
              <a:rPr lang="nb-NO" dirty="0"/>
              <a:t> or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suppressions</a:t>
            </a:r>
            <a:r>
              <a:rPr lang="nb-NO" dirty="0"/>
              <a:t>. </a:t>
            </a:r>
          </a:p>
          <a:p>
            <a:r>
              <a:rPr lang="nb-NO" dirty="0"/>
              <a:t>If a </a:t>
            </a:r>
            <a:r>
              <a:rPr lang="nb-NO" dirty="0" err="1"/>
              <a:t>cell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want</a:t>
            </a:r>
            <a:r>
              <a:rPr lang="nb-NO" dirty="0"/>
              <a:t> to </a:t>
            </a:r>
            <a:r>
              <a:rPr lang="nb-NO" dirty="0" err="1"/>
              <a:t>publish</a:t>
            </a:r>
            <a:r>
              <a:rPr lang="nb-NO" dirty="0"/>
              <a:t> is </a:t>
            </a:r>
            <a:r>
              <a:rPr lang="nb-NO" dirty="0" err="1"/>
              <a:t>secondary</a:t>
            </a:r>
            <a:r>
              <a:rPr lang="nb-NO" dirty="0"/>
              <a:t> </a:t>
            </a:r>
            <a:r>
              <a:rPr lang="nb-NO" dirty="0" err="1"/>
              <a:t>suppressed</a:t>
            </a:r>
            <a:r>
              <a:rPr lang="nb-NO" dirty="0"/>
              <a:t>, </a:t>
            </a:r>
            <a:r>
              <a:rPr lang="nb-NO" dirty="0" err="1"/>
              <a:t>try</a:t>
            </a:r>
            <a:r>
              <a:rPr lang="nb-NO" dirty="0"/>
              <a:t> to </a:t>
            </a:r>
            <a:r>
              <a:rPr lang="nb-NO" dirty="0" err="1"/>
              <a:t>rerun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a different setting.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31ED7-634E-4B35-B450-1ED3E025F1CE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7634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In fact, we always recommend closer assessment. This is important since some information may be openly available and especially some zeros may be structural.</a:t>
            </a:r>
          </a:p>
          <a:p>
            <a:endParaRPr lang="nb-NO" dirty="0"/>
          </a:p>
          <a:p>
            <a:r>
              <a:rPr lang="nb-NO" dirty="0" err="1"/>
              <a:t>Structural</a:t>
            </a:r>
            <a:r>
              <a:rPr lang="nb-NO" dirty="0"/>
              <a:t> zeros = a </a:t>
            </a:r>
            <a:r>
              <a:rPr lang="nb-NO" dirty="0" err="1"/>
              <a:t>cell</a:t>
            </a:r>
            <a:r>
              <a:rPr lang="nb-NO" dirty="0"/>
              <a:t> </a:t>
            </a:r>
            <a:r>
              <a:rPr lang="nb-NO" dirty="0" err="1"/>
              <a:t>known</a:t>
            </a:r>
            <a:r>
              <a:rPr lang="nb-NO" dirty="0"/>
              <a:t> to be zero, and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not be </a:t>
            </a:r>
            <a:r>
              <a:rPr lang="nb-NO" dirty="0" err="1"/>
              <a:t>anything</a:t>
            </a:r>
            <a:r>
              <a:rPr lang="nb-NO" dirty="0"/>
              <a:t> </a:t>
            </a:r>
            <a:r>
              <a:rPr lang="nb-NO" dirty="0" err="1"/>
              <a:t>else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zero. 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31ED7-634E-4B35-B450-1ED3E025F1CE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65156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AC6A2-E11F-4744-8927-1562D4057F48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3158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5 </a:t>
            </a:r>
            <a:r>
              <a:rPr lang="nb-NO" dirty="0" err="1"/>
              <a:t>members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secretary</a:t>
            </a:r>
            <a:r>
              <a:rPr lang="nb-NO" dirty="0"/>
              <a:t> (1 </a:t>
            </a:r>
            <a:r>
              <a:rPr lang="nb-NO" dirty="0" err="1"/>
              <a:t>law</a:t>
            </a:r>
            <a:r>
              <a:rPr lang="nb-NO" dirty="0"/>
              <a:t>, 3 </a:t>
            </a:r>
            <a:r>
              <a:rPr lang="nb-NO" dirty="0" err="1"/>
              <a:t>methodology</a:t>
            </a:r>
            <a:r>
              <a:rPr lang="nb-NO" dirty="0"/>
              <a:t>, 1 stat </a:t>
            </a:r>
            <a:r>
              <a:rPr lang="nb-NO" dirty="0" err="1"/>
              <a:t>department</a:t>
            </a:r>
            <a:r>
              <a:rPr lang="nb-NO" dirty="0"/>
              <a:t>)</a:t>
            </a:r>
          </a:p>
          <a:p>
            <a:r>
              <a:rPr lang="nb-NO" dirty="0"/>
              <a:t>5 </a:t>
            </a:r>
            <a:r>
              <a:rPr lang="nb-NO" dirty="0" err="1"/>
              <a:t>members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board</a:t>
            </a:r>
            <a:r>
              <a:rPr lang="nb-NO" dirty="0"/>
              <a:t> (1 </a:t>
            </a:r>
            <a:r>
              <a:rPr lang="nb-NO" dirty="0" err="1"/>
              <a:t>law</a:t>
            </a:r>
            <a:r>
              <a:rPr lang="nb-NO" dirty="0"/>
              <a:t>, 1 </a:t>
            </a:r>
            <a:r>
              <a:rPr lang="nb-NO" dirty="0" err="1"/>
              <a:t>methodology</a:t>
            </a:r>
            <a:r>
              <a:rPr lang="nb-NO" dirty="0"/>
              <a:t>, 3 stat </a:t>
            </a:r>
            <a:r>
              <a:rPr lang="nb-NO" dirty="0" err="1"/>
              <a:t>department</a:t>
            </a:r>
            <a:r>
              <a:rPr lang="nb-NO" dirty="0"/>
              <a:t>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AC6A2-E11F-4744-8927-1562D4057F48}" type="slidenum">
              <a:rPr lang="nb-NO" smtClean="0"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0130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b-NO" dirty="0">
                <a:solidFill>
                  <a:srgbClr val="000000"/>
                </a:solidFill>
                <a:highlight>
                  <a:srgbClr val="FFFFFF"/>
                </a:highlight>
              </a:rPr>
              <a:t>Propose general guidelines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 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that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are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easy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to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implement</a:t>
            </a:r>
            <a:endParaRPr lang="nb-NO" b="0" i="0" dirty="0">
              <a:solidFill>
                <a:srgbClr val="000000"/>
              </a:solidFill>
              <a:effectLst/>
              <a:highlight>
                <a:srgbClr val="FFFFFF"/>
              </a:highlight>
            </a:endParaRPr>
          </a:p>
          <a:p>
            <a:pPr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b-NO" dirty="0">
                <a:solidFill>
                  <a:srgbClr val="000000"/>
                </a:solidFill>
                <a:highlight>
                  <a:srgbClr val="FFFFFF"/>
                </a:highlight>
              </a:rPr>
              <a:t>Propose </a:t>
            </a:r>
            <a:r>
              <a:rPr lang="nb-NO" dirty="0" err="1">
                <a:solidFill>
                  <a:srgbClr val="000000"/>
                </a:solidFill>
                <a:highlight>
                  <a:srgbClr val="FFFFFF"/>
                </a:highlight>
              </a:rPr>
              <a:t>recommandations</a:t>
            </a:r>
            <a:r>
              <a:rPr lang="nb-NO" dirty="0">
                <a:solidFill>
                  <a:srgbClr val="000000"/>
                </a:solidFill>
                <a:highlight>
                  <a:srgbClr val="FFFFFF"/>
                </a:highlight>
              </a:rPr>
              <a:t> for </a:t>
            </a:r>
            <a:r>
              <a:rPr lang="nb-NO" dirty="0" err="1">
                <a:solidFill>
                  <a:srgbClr val="000000"/>
                </a:solidFill>
                <a:highlight>
                  <a:srgbClr val="FFFFFF"/>
                </a:highlight>
              </a:rPr>
              <a:t>good</a:t>
            </a:r>
            <a:r>
              <a:rPr lang="nb-NO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b-NO" dirty="0" err="1">
                <a:solidFill>
                  <a:srgbClr val="000000"/>
                </a:solidFill>
                <a:highlight>
                  <a:srgbClr val="FFFFFF"/>
                </a:highlight>
              </a:rPr>
              <a:t>practice</a:t>
            </a:r>
            <a:r>
              <a:rPr lang="nb-NO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  </a:t>
            </a:r>
          </a:p>
          <a:p>
            <a:pPr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Give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advice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on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individual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cases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of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principal</a:t>
            </a:r>
            <a:r>
              <a:rPr lang="nb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character</a:t>
            </a:r>
            <a:endParaRPr lang="nb-NO" b="0" i="0" dirty="0">
              <a:solidFill>
                <a:srgbClr val="000000"/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AC6A2-E11F-4744-8927-1562D4057F48}" type="slidenum">
              <a:rPr lang="nb-NO" smtClean="0"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2170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 descr="Et bilde som inneholder skjermbilde&#10;&#10;Beskrivelse som er generert med svært høy visshet">
            <a:extLst>
              <a:ext uri="{FF2B5EF4-FFF2-40B4-BE49-F238E27FC236}">
                <a16:creationId xmlns:a16="http://schemas.microsoft.com/office/drawing/2014/main" id="{47F2A11D-5491-478B-9E74-10A8C407A8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"/>
            <a:ext cx="12192000" cy="6857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0991" y="2722288"/>
            <a:ext cx="9390018" cy="1015791"/>
          </a:xfrm>
          <a:ln>
            <a:noFill/>
          </a:ln>
        </p:spPr>
        <p:txBody>
          <a:bodyPr anchor="b"/>
          <a:lstStyle>
            <a:lvl1pPr algn="ctr">
              <a:lnSpc>
                <a:spcPct val="100000"/>
              </a:lnSpc>
              <a:defRPr lang="nb-NO" sz="6001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nb-NO" noProof="0"/>
              <a:t>Klikk for å redigere tittelstil</a:t>
            </a:r>
            <a:endParaRPr lang="nb-N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00991" y="3909549"/>
            <a:ext cx="9390018" cy="401648"/>
          </a:xfrm>
        </p:spPr>
        <p:txBody>
          <a:bodyPr>
            <a:spAutoFit/>
          </a:bodyPr>
          <a:lstStyle>
            <a:lvl1pPr marL="0" indent="0" algn="ctr">
              <a:buNone/>
              <a:defRPr sz="1500" cap="all" spc="75" baseline="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nb-NO" noProof="0" dirty="0"/>
              <a:t>UNDERTITTEL SKAL INN HER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5524F468-AFDE-4FA7-A336-BF521DA62E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8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0DE3-8AB4-4283-AAF7-C599EB450E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19359" y="1862176"/>
            <a:ext cx="9651619" cy="397886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06242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skil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Et bilde som inneholder skjermbilde&#10;&#10;Beskrivelse som er generert med høy visshet">
            <a:extLst>
              <a:ext uri="{FF2B5EF4-FFF2-40B4-BE49-F238E27FC236}">
                <a16:creationId xmlns:a16="http://schemas.microsoft.com/office/drawing/2014/main" id="{82044551-1680-47B1-A9ED-E2CF3CEB2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"/>
            <a:ext cx="12192000" cy="6857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0991" y="2799917"/>
            <a:ext cx="9390018" cy="1015791"/>
          </a:xfrm>
          <a:ln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lang="nb-NO" sz="6001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5524F468-AFDE-4FA7-A336-BF521DA62E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3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innhold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5520737" cy="147758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31725901-1B6A-4C45-8DFA-5AEEA34F55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95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C6CF-133F-4327-B59A-5E987B55A2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11160" y="633486"/>
            <a:ext cx="5149886" cy="527984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7D4585-68D6-4C8C-9321-1D6936FE09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5264" y="2028632"/>
            <a:ext cx="5520737" cy="3884698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95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tel, innhold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5520737" cy="147758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1CF5FB5-3D6B-44D1-99CC-F0E11CB949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263" y="2028632"/>
            <a:ext cx="5520737" cy="3884697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633486"/>
            <a:ext cx="5149886" cy="527984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/>
              <a:t>Klikk på ikonet for å legge til et bilde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31725901-1B6A-4C45-8DFA-5AEEA34F55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95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4112122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o valgfrie elem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10985784" cy="784958"/>
          </a:xfrm>
        </p:spPr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9D97-491E-4B44-B31E-075E94ECFD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154" y="1809960"/>
            <a:ext cx="5149886" cy="4103369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B0EA0-EE56-4BC2-9A97-1C7D7797FA5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11160" y="1809960"/>
            <a:ext cx="5149886" cy="4103369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992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o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10985784" cy="784958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1809959"/>
            <a:ext cx="5149886" cy="410336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/>
              <a:t>Klikk på ikonet for å legge til et bilde</a:t>
            </a:r>
          </a:p>
        </p:txBody>
      </p:sp>
      <p:sp>
        <p:nvSpPr>
          <p:cNvPr id="5" name="Plassholder for bilde 5">
            <a:extLst>
              <a:ext uri="{FF2B5EF4-FFF2-40B4-BE49-F238E27FC236}">
                <a16:creationId xmlns:a16="http://schemas.microsoft.com/office/drawing/2014/main" id="{B9099586-714C-4DE3-816E-CD6982F9B3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1809959"/>
            <a:ext cx="5149886" cy="410336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/>
              <a:t>Klikk på ikonet for å legge til et bilde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641741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valgfrie elem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35B047-1C6C-4BB1-9AAC-35E8860EA5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154" y="619504"/>
            <a:ext cx="5149886" cy="5293824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7ABDC-D2D5-4A6E-B4C5-2E8F7BF4AC3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11160" y="619504"/>
            <a:ext cx="5149886" cy="5293824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09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619504"/>
            <a:ext cx="5149886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/>
              <a:t>Klikk på ikonet for å legge til et bilde</a:t>
            </a:r>
          </a:p>
        </p:txBody>
      </p:sp>
      <p:sp>
        <p:nvSpPr>
          <p:cNvPr id="5" name="Plassholder for bilde 5">
            <a:extLst>
              <a:ext uri="{FF2B5EF4-FFF2-40B4-BE49-F238E27FC236}">
                <a16:creationId xmlns:a16="http://schemas.microsoft.com/office/drawing/2014/main" id="{B9099586-714C-4DE3-816E-CD6982F9B3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619504"/>
            <a:ext cx="5149886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/>
              <a:t>Klikk på ikonet for å legge til et bilde</a:t>
            </a:r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57205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(sto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bilde 5">
            <a:extLst>
              <a:ext uri="{FF2B5EF4-FFF2-40B4-BE49-F238E27FC236}">
                <a16:creationId xmlns:a16="http://schemas.microsoft.com/office/drawing/2014/main" id="{9C0BB095-47FF-4294-9915-4ED142AC03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619504"/>
            <a:ext cx="10903891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/>
              <a:t>Klikk på ikonet for å legge til et bilde</a:t>
            </a:r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FD3FCA3-4503-49E6-83F2-4DF49013A4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8991" y="3781605"/>
            <a:ext cx="4856516" cy="1816654"/>
          </a:xfrm>
          <a:solidFill>
            <a:schemeClr val="bg1">
              <a:alpha val="90000"/>
            </a:schemeClr>
          </a:solidFill>
        </p:spPr>
        <p:txBody>
          <a:bodyPr lIns="648000" rIns="648000"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59255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99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746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Agenda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1B50D6-0810-4E43-928C-534B46A7A4E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19359" y="1862176"/>
            <a:ext cx="9651619" cy="3978862"/>
          </a:xfrm>
          <a:prstGeom prst="rect">
            <a:avLst/>
          </a:prstGeom>
        </p:spPr>
        <p:txBody>
          <a:bodyPr lIns="91440" tIns="45720" rIns="91440" bIns="45720"/>
          <a:lstStyle>
            <a:lvl1pPr marL="0" marR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lvl1pPr>
          </a:lstStyle>
          <a:p>
            <a:pPr lvl="0"/>
            <a:r>
              <a:rPr lang="nb-NO" noProof="0"/>
              <a:t>Punkt én på agendaen i korte trekk</a:t>
            </a:r>
          </a:p>
          <a:p>
            <a:pPr lvl="0"/>
            <a:r>
              <a:rPr lang="nb-NO" noProof="0"/>
              <a:t>Punkt to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tre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fire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fem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seks på agendaen i korte trekk</a:t>
            </a:r>
          </a:p>
          <a:p>
            <a:pPr lvl="0"/>
            <a:endParaRPr lang="nb-NO" noProof="0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7E2593EF-F9EB-40ED-942A-4879FA78B594}"/>
              </a:ext>
            </a:extLst>
          </p:cNvPr>
          <p:cNvCxnSpPr/>
          <p:nvPr userDrawn="1"/>
        </p:nvCxnSpPr>
        <p:spPr>
          <a:xfrm>
            <a:off x="1219359" y="2478704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Rett linje 10">
            <a:extLst>
              <a:ext uri="{FF2B5EF4-FFF2-40B4-BE49-F238E27FC236}">
                <a16:creationId xmlns:a16="http://schemas.microsoft.com/office/drawing/2014/main" id="{96CA0932-605B-4E71-B8D3-C72AAAA4A91A}"/>
              </a:ext>
            </a:extLst>
          </p:cNvPr>
          <p:cNvCxnSpPr/>
          <p:nvPr userDrawn="1"/>
        </p:nvCxnSpPr>
        <p:spPr>
          <a:xfrm>
            <a:off x="1219359" y="5253391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2DF21B92-9FD0-4B71-ACA2-7C1925BD0C2C}"/>
              </a:ext>
            </a:extLst>
          </p:cNvPr>
          <p:cNvCxnSpPr/>
          <p:nvPr userDrawn="1"/>
        </p:nvCxnSpPr>
        <p:spPr>
          <a:xfrm>
            <a:off x="1219359" y="3172376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Rett linje 12">
            <a:extLst>
              <a:ext uri="{FF2B5EF4-FFF2-40B4-BE49-F238E27FC236}">
                <a16:creationId xmlns:a16="http://schemas.microsoft.com/office/drawing/2014/main" id="{91D61EF0-049D-489F-9607-DBC47717D8D1}"/>
              </a:ext>
            </a:extLst>
          </p:cNvPr>
          <p:cNvCxnSpPr/>
          <p:nvPr userDrawn="1"/>
        </p:nvCxnSpPr>
        <p:spPr>
          <a:xfrm>
            <a:off x="1219359" y="3866048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Rett linje 13">
            <a:extLst>
              <a:ext uri="{FF2B5EF4-FFF2-40B4-BE49-F238E27FC236}">
                <a16:creationId xmlns:a16="http://schemas.microsoft.com/office/drawing/2014/main" id="{0C7BCC08-99D7-4973-9AB5-A63BAB7784DB}"/>
              </a:ext>
            </a:extLst>
          </p:cNvPr>
          <p:cNvCxnSpPr/>
          <p:nvPr userDrawn="1"/>
        </p:nvCxnSpPr>
        <p:spPr>
          <a:xfrm>
            <a:off x="1219359" y="4559720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913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e 2">
            <a:extLst>
              <a:ext uri="{FF2B5EF4-FFF2-40B4-BE49-F238E27FC236}">
                <a16:creationId xmlns:a16="http://schemas.microsoft.com/office/drawing/2014/main" id="{A3732E95-11BD-4ACF-B5AD-A1CC4F0DB8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A57E41EB-05AD-44D6-997C-D31E1B44F1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855" y="1883484"/>
            <a:ext cx="7418289" cy="27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47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rediger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>
            <a:extLst>
              <a:ext uri="{FF2B5EF4-FFF2-40B4-BE49-F238E27FC236}">
                <a16:creationId xmlns:a16="http://schemas.microsoft.com/office/drawing/2014/main" id="{410EA91D-3B36-4F01-BD03-074913EC3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31" name="Title 1"/>
          <p:cNvSpPr>
            <a:spLocks noGrp="1"/>
          </p:cNvSpPr>
          <p:nvPr>
            <p:ph type="ctrTitle" hasCustomPrompt="1"/>
          </p:nvPr>
        </p:nvSpPr>
        <p:spPr>
          <a:xfrm>
            <a:off x="1630018" y="2305881"/>
            <a:ext cx="8984972" cy="1709530"/>
          </a:xfrm>
          <a:ln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lang="nb-NO" sz="10000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nb-NO" noProof="0" dirty="0"/>
              <a:t>Takk!</a:t>
            </a:r>
          </a:p>
        </p:txBody>
      </p:sp>
    </p:spTree>
    <p:extLst>
      <p:ext uri="{BB962C8B-B14F-4D97-AF65-F5344CB8AC3E}">
        <p14:creationId xmlns:p14="http://schemas.microsoft.com/office/powerpoint/2010/main" val="2359149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92D5AC1-AB5B-41EC-93C0-5AD3DFE8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39E63F9-2B8E-44FB-A78B-7641D5BAA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E9745F0-8671-4ECA-B01D-659AB75D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0564-07AF-4C5C-99D5-A74F885CEA53}" type="datetimeFigureOut">
              <a:rPr lang="nb-NO" smtClean="0"/>
              <a:t>17.11.2025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E461179-0CA5-4622-8453-B048EAC8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3464AE-64F1-427C-95C4-ED364CC3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FC23-CC85-470C-9AC2-F4D9EC12F92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320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359" y="551048"/>
            <a:ext cx="9651619" cy="1311128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rmAutofit/>
          </a:bodyPr>
          <a:lstStyle/>
          <a:p>
            <a:r>
              <a:rPr lang="nb-NO" noProof="0" dirty="0"/>
              <a:t>Klikk for å redigere tittelstil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358" y="1862176"/>
            <a:ext cx="9651619" cy="3978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b-NO" noProof="0" dirty="0"/>
              <a:t>Rediger tekststiler i malen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12E8B8B0-4BD5-4668-9018-913E276A5FE9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461" y="6071524"/>
            <a:ext cx="3025540" cy="78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4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90" r:id="rId5"/>
    <p:sldLayoutId id="2147483674" r:id="rId6"/>
    <p:sldLayoutId id="2147483691" r:id="rId7"/>
    <p:sldLayoutId id="2147483675" r:id="rId8"/>
    <p:sldLayoutId id="2147483692" r:id="rId9"/>
    <p:sldLayoutId id="2147483676" r:id="rId10"/>
    <p:sldLayoutId id="2147483666" r:id="rId11"/>
    <p:sldLayoutId id="2147483667" r:id="rId12"/>
    <p:sldLayoutId id="2147483694" r:id="rId13"/>
    <p:sldLayoutId id="2147483670" r:id="rId14"/>
    <p:sldLayoutId id="2147483695" r:id="rId15"/>
    <p:sldLayoutId id="2147483696" r:id="rId16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74247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15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400" kern="1200">
          <a:solidFill>
            <a:srgbClr val="274247"/>
          </a:solidFill>
          <a:latin typeface="+mn-lt"/>
          <a:ea typeface="+mn-ea"/>
          <a:cs typeface="+mn-cs"/>
        </a:defRPr>
      </a:lvl1pPr>
      <a:lvl2pPr marL="396079" indent="-144029" algn="l" defTabSz="914446" rtl="0" eaLnBrk="1" latinLnBrk="0" hangingPunct="1">
        <a:lnSpc>
          <a:spcPct val="15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◦"/>
        <a:defRPr sz="1800" kern="1200">
          <a:solidFill>
            <a:srgbClr val="274247"/>
          </a:solidFill>
          <a:latin typeface="+mn-lt"/>
          <a:ea typeface="+mn-ea"/>
          <a:cs typeface="+mn-cs"/>
        </a:defRPr>
      </a:lvl2pPr>
      <a:lvl3pPr marL="522104" indent="-108022" algn="l" defTabSz="914446" rtl="0" eaLnBrk="1" latinLnBrk="0" hangingPunct="1">
        <a:lnSpc>
          <a:spcPct val="150000"/>
        </a:lnSpc>
        <a:spcBef>
          <a:spcPts val="300"/>
        </a:spcBef>
        <a:spcAft>
          <a:spcPts val="400"/>
        </a:spcAft>
        <a:buFont typeface="Open Sans" panose="020B0606030504020204" pitchFamily="34" charset="0"/>
        <a:buChar char="­"/>
        <a:defRPr sz="1400" kern="1200">
          <a:solidFill>
            <a:srgbClr val="274247"/>
          </a:solidFill>
          <a:latin typeface="+mn-lt"/>
          <a:ea typeface="+mn-ea"/>
          <a:cs typeface="+mn-cs"/>
        </a:defRPr>
      </a:lvl3pPr>
      <a:lvl4pPr marL="666133" indent="-99020" algn="l" defTabSz="914446" rtl="0" eaLnBrk="1" latinLnBrk="0" hangingPunct="1">
        <a:lnSpc>
          <a:spcPct val="150000"/>
        </a:lnSpc>
        <a:spcBef>
          <a:spcPts val="250"/>
        </a:spcBef>
        <a:buFont typeface="Open Sans" panose="020B0606030504020204" pitchFamily="34" charset="0"/>
        <a:buChar char="­"/>
        <a:defRPr sz="1050" kern="1200">
          <a:solidFill>
            <a:srgbClr val="274247"/>
          </a:solidFill>
          <a:latin typeface="+mn-lt"/>
          <a:ea typeface="+mn-ea"/>
          <a:cs typeface="+mn-cs"/>
        </a:defRPr>
      </a:lvl4pPr>
      <a:lvl5pPr marL="774155" indent="-90018" algn="l" defTabSz="914446" rtl="0" eaLnBrk="1" latinLnBrk="0" hangingPunct="1">
        <a:lnSpc>
          <a:spcPct val="150000"/>
        </a:lnSpc>
        <a:spcBef>
          <a:spcPts val="250"/>
        </a:spcBef>
        <a:buFont typeface="Open Sans" panose="020B0606030504020204" pitchFamily="34" charset="0"/>
        <a:buChar char="­"/>
        <a:defRPr sz="1000" kern="1200">
          <a:solidFill>
            <a:srgbClr val="274247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419842-592E-434F-A9A0-9D056E8796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SSB's policies, rules and guidelines related to table protection</a:t>
            </a:r>
            <a:endParaRPr lang="nb-NO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0095F8-98D7-4910-A38E-D9915094E0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19.Nov 2025</a:t>
            </a:r>
          </a:p>
        </p:txBody>
      </p:sp>
    </p:spTree>
    <p:extLst>
      <p:ext uri="{BB962C8B-B14F-4D97-AF65-F5344CB8AC3E}">
        <p14:creationId xmlns:p14="http://schemas.microsoft.com/office/powerpoint/2010/main" val="42947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1B8F39D-56E6-7386-46D2-6BF0BED7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Statistics Norway’s </a:t>
            </a:r>
            <a:r>
              <a:rPr lang="en-US" u="sng" dirty="0"/>
              <a:t>policies</a:t>
            </a:r>
            <a:r>
              <a:rPr lang="en-US" dirty="0"/>
              <a:t>, </a:t>
            </a:r>
            <a:r>
              <a:rPr lang="en-US" u="sng" dirty="0"/>
              <a:t>rules</a:t>
            </a:r>
            <a:r>
              <a:rPr lang="en-US" dirty="0"/>
              <a:t> and </a:t>
            </a:r>
            <a:r>
              <a:rPr lang="en-US" u="sng" dirty="0"/>
              <a:t>guidelines</a:t>
            </a:r>
            <a:r>
              <a:rPr lang="en-US" dirty="0"/>
              <a:t> related to table protection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DEDFCE0-3BF6-A58C-A51C-4B9B1C4D686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 dirty="0"/>
              <a:t>Policy:</a:t>
            </a:r>
            <a:r>
              <a:rPr lang="en-US" dirty="0"/>
              <a:t> A broad principle or intention that guides decisions.</a:t>
            </a:r>
          </a:p>
          <a:p>
            <a:pPr lvl="1"/>
            <a:r>
              <a:rPr lang="nb-NO" dirty="0"/>
              <a:t>Ex: </a:t>
            </a:r>
            <a:r>
              <a:rPr lang="nb-NO" dirty="0" err="1"/>
              <a:t>What</a:t>
            </a:r>
            <a:r>
              <a:rPr lang="nb-NO" dirty="0"/>
              <a:t> is </a:t>
            </a:r>
            <a:r>
              <a:rPr lang="nb-NO" dirty="0" err="1"/>
              <a:t>considered</a:t>
            </a:r>
            <a:r>
              <a:rPr lang="nb-NO" dirty="0"/>
              <a:t> to be a </a:t>
            </a:r>
            <a:r>
              <a:rPr lang="nb-NO" dirty="0" err="1"/>
              <a:t>small</a:t>
            </a:r>
            <a:r>
              <a:rPr lang="nb-NO" dirty="0"/>
              <a:t> </a:t>
            </a:r>
            <a:r>
              <a:rPr lang="nb-NO" dirty="0" err="1"/>
              <a:t>frequency</a:t>
            </a:r>
            <a:r>
              <a:rPr lang="nb-NO" dirty="0"/>
              <a:t>?</a:t>
            </a:r>
            <a:endParaRPr lang="en-US" dirty="0"/>
          </a:p>
          <a:p>
            <a:r>
              <a:rPr lang="en-US" b="1" dirty="0"/>
              <a:t>Rules: </a:t>
            </a:r>
            <a:r>
              <a:rPr lang="en-US" dirty="0"/>
              <a:t>Mandatory requirements that must be followed</a:t>
            </a:r>
          </a:p>
          <a:p>
            <a:pPr lvl="1"/>
            <a:r>
              <a:rPr lang="en-US" dirty="0"/>
              <a:t>Ex: Apply statistical confidentiality control (SDC) to protect small frequencies</a:t>
            </a:r>
          </a:p>
          <a:p>
            <a:r>
              <a:rPr lang="en-US" b="1" dirty="0"/>
              <a:t>Guidelines:</a:t>
            </a:r>
            <a:r>
              <a:rPr lang="en-US" dirty="0"/>
              <a:t> Recommended practices to help comply with policies and rules.</a:t>
            </a:r>
          </a:p>
          <a:p>
            <a:pPr lvl="1"/>
            <a:r>
              <a:rPr lang="en-US" dirty="0"/>
              <a:t>Ex: Only use SDC tools recommended by the methodological department</a:t>
            </a:r>
          </a:p>
        </p:txBody>
      </p:sp>
    </p:spTree>
    <p:extLst>
      <p:ext uri="{BB962C8B-B14F-4D97-AF65-F5344CB8AC3E}">
        <p14:creationId xmlns:p14="http://schemas.microsoft.com/office/powerpoint/2010/main" val="315340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769F314-C04B-BA21-44AB-CA880F1E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000" dirty="0"/>
              <a:t>Rules at </a:t>
            </a:r>
            <a:r>
              <a:rPr lang="nb-NO" sz="4000" dirty="0" err="1"/>
              <a:t>Statistics</a:t>
            </a:r>
            <a:r>
              <a:rPr lang="nb-NO" sz="4000" dirty="0"/>
              <a:t> Norway for </a:t>
            </a:r>
            <a:r>
              <a:rPr lang="nb-NO" sz="4000" dirty="0" err="1"/>
              <a:t>table</a:t>
            </a:r>
            <a:r>
              <a:rPr lang="nb-NO" sz="4000" dirty="0"/>
              <a:t> </a:t>
            </a:r>
            <a:r>
              <a:rPr lang="nb-NO" sz="4000" dirty="0" err="1"/>
              <a:t>protection</a:t>
            </a:r>
            <a:endParaRPr lang="nb-NO" sz="4000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EBB8E83-AA02-0579-7909-D905D8A6E47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General </a:t>
            </a:r>
            <a:r>
              <a:rPr lang="nb-NO" dirty="0" err="1"/>
              <a:t>rules</a:t>
            </a:r>
            <a:r>
              <a:rPr lang="nb-NO" dirty="0"/>
              <a:t> for </a:t>
            </a:r>
          </a:p>
          <a:p>
            <a:r>
              <a:rPr lang="nb-NO" dirty="0" err="1"/>
              <a:t>suppression</a:t>
            </a:r>
            <a:endParaRPr lang="nb-NO" dirty="0"/>
          </a:p>
          <a:p>
            <a:r>
              <a:rPr lang="nb-NO" dirty="0" err="1"/>
              <a:t>fequency</a:t>
            </a:r>
            <a:r>
              <a:rPr lang="nb-NO" dirty="0"/>
              <a:t> </a:t>
            </a:r>
            <a:r>
              <a:rPr lang="nb-NO" dirty="0" err="1"/>
              <a:t>tables</a:t>
            </a:r>
            <a:endParaRPr lang="nb-NO" dirty="0"/>
          </a:p>
          <a:p>
            <a:r>
              <a:rPr lang="nb-NO" dirty="0"/>
              <a:t>d</a:t>
            </a:r>
            <a:r>
              <a:rPr lang="en-US" dirty="0" err="1">
                <a:highlight>
                  <a:srgbClr val="FFFFFF"/>
                </a:highlight>
              </a:rPr>
              <a:t>ominance</a:t>
            </a:r>
            <a:r>
              <a:rPr lang="en-US" dirty="0">
                <a:highlight>
                  <a:srgbClr val="FFFFFF"/>
                </a:highlight>
              </a:rPr>
              <a:t> thresholds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49522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9F0528B-07D8-952D-25D1-245E5A3E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>
                <a:solidFill>
                  <a:schemeClr val="tx1"/>
                </a:solidFill>
              </a:rPr>
              <a:t>General </a:t>
            </a:r>
            <a:r>
              <a:rPr lang="nb-NO" dirty="0" err="1">
                <a:solidFill>
                  <a:schemeClr val="tx1"/>
                </a:solidFill>
              </a:rPr>
              <a:t>rules</a:t>
            </a:r>
            <a:r>
              <a:rPr lang="nb-NO" dirty="0">
                <a:solidFill>
                  <a:schemeClr val="tx1"/>
                </a:solidFill>
              </a:rPr>
              <a:t> for s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</a:rPr>
              <a:t>uppression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40582C8-CDDC-AA0B-296C-BE4918F377B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84582" indent="0">
              <a:buNone/>
            </a:pP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</a:rPr>
              <a:t>Rule I: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Use recognized tools for primary and secondary 	suppression</a:t>
            </a:r>
          </a:p>
          <a:p>
            <a:r>
              <a:rPr lang="en-US" dirty="0"/>
              <a:t>Do not apply manual suppression</a:t>
            </a:r>
          </a:p>
          <a:p>
            <a:r>
              <a:rPr lang="en-US" dirty="0"/>
              <a:t>Do not use self-made tools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4821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D10D3D-B2C9-7E24-F49B-F9C352DD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4C2599-B098-5809-CDCE-8661AB99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>
                <a:solidFill>
                  <a:schemeClr val="tx1"/>
                </a:solidFill>
              </a:rPr>
              <a:t>General </a:t>
            </a:r>
            <a:r>
              <a:rPr lang="nb-NO" dirty="0" err="1">
                <a:solidFill>
                  <a:schemeClr val="tx1"/>
                </a:solidFill>
              </a:rPr>
              <a:t>rules</a:t>
            </a:r>
            <a:r>
              <a:rPr lang="nb-NO" dirty="0">
                <a:solidFill>
                  <a:schemeClr val="tx1"/>
                </a:solidFill>
              </a:rPr>
              <a:t> for s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</a:rPr>
              <a:t>uppression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9369A65-B546-3885-CEF9-2676EE92BBB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b="1" dirty="0"/>
              <a:t>Guideline: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one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tools</a:t>
            </a:r>
            <a:r>
              <a:rPr lang="nb-NO" dirty="0"/>
              <a:t> </a:t>
            </a:r>
            <a:r>
              <a:rPr lang="nb-NO" dirty="0" err="1"/>
              <a:t>recommended</a:t>
            </a:r>
            <a:r>
              <a:rPr lang="nb-NO" dirty="0"/>
              <a:t> by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metodological</a:t>
            </a:r>
            <a:r>
              <a:rPr lang="nb-NO" dirty="0"/>
              <a:t> </a:t>
            </a:r>
            <a:r>
              <a:rPr lang="nb-NO" dirty="0" err="1"/>
              <a:t>department</a:t>
            </a:r>
            <a:endParaRPr lang="nb-NO" dirty="0"/>
          </a:p>
          <a:p>
            <a:pPr lvl="1"/>
            <a:r>
              <a:rPr lang="nb-NO" dirty="0" err="1"/>
              <a:t>GaussSuppression</a:t>
            </a:r>
            <a:r>
              <a:rPr lang="nb-NO" dirty="0"/>
              <a:t> (R-</a:t>
            </a:r>
            <a:r>
              <a:rPr lang="nb-NO" dirty="0" err="1"/>
              <a:t>package</a:t>
            </a:r>
            <a:r>
              <a:rPr lang="nb-NO" dirty="0"/>
              <a:t>)</a:t>
            </a:r>
          </a:p>
          <a:p>
            <a:pPr lvl="1"/>
            <a:r>
              <a:rPr lang="nb-NO" dirty="0"/>
              <a:t>Tau-Argus</a:t>
            </a:r>
          </a:p>
          <a:p>
            <a:pPr lvl="1"/>
            <a:r>
              <a:rPr lang="nb-NO" dirty="0"/>
              <a:t>sdcTable (R-</a:t>
            </a:r>
            <a:r>
              <a:rPr lang="nb-NO" dirty="0" err="1"/>
              <a:t>package</a:t>
            </a:r>
            <a:r>
              <a:rPr lang="nb-NO" dirty="0"/>
              <a:t>)</a:t>
            </a:r>
          </a:p>
          <a:p>
            <a:pPr lvl="1"/>
            <a:r>
              <a:rPr lang="nb-NO" dirty="0" err="1"/>
              <a:t>easySdcTable</a:t>
            </a:r>
            <a:r>
              <a:rPr lang="nb-NO" dirty="0"/>
              <a:t> (R-</a:t>
            </a:r>
            <a:r>
              <a:rPr lang="nb-NO" dirty="0" err="1"/>
              <a:t>package</a:t>
            </a:r>
            <a:r>
              <a:rPr lang="nb-NO" dirty="0"/>
              <a:t>)</a:t>
            </a:r>
          </a:p>
          <a:p>
            <a:pPr lvl="1"/>
            <a:endParaRPr lang="nb-NO" dirty="0"/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4485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F37F66-010F-620B-D706-794CC4DDA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BE21B0-2928-F4B6-C5E6-6309FCD0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>
                <a:solidFill>
                  <a:schemeClr val="tx1"/>
                </a:solidFill>
              </a:rPr>
              <a:t>General </a:t>
            </a:r>
            <a:r>
              <a:rPr lang="nb-NO" dirty="0" err="1">
                <a:solidFill>
                  <a:schemeClr val="tx1"/>
                </a:solidFill>
              </a:rPr>
              <a:t>rules</a:t>
            </a:r>
            <a:r>
              <a:rPr lang="nb-NO" dirty="0">
                <a:solidFill>
                  <a:schemeClr val="tx1"/>
                </a:solidFill>
              </a:rPr>
              <a:t> for s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</a:rPr>
              <a:t>uppression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2F18CA5-075C-D426-5E0A-554C04741FF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Rule II: </a:t>
            </a:r>
            <a:r>
              <a:rPr lang="en-US" dirty="0"/>
              <a:t>Respect the results of the suppression </a:t>
            </a:r>
          </a:p>
          <a:p>
            <a:r>
              <a:rPr lang="en-US" sz="2000" dirty="0"/>
              <a:t>Do not override suppression results.</a:t>
            </a:r>
          </a:p>
          <a:p>
            <a:r>
              <a:rPr lang="en-US" sz="2000" dirty="0"/>
              <a:t>If needed, rerun suppression with different settings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2000" dirty="0"/>
              <a:t>Ex: </a:t>
            </a:r>
            <a:r>
              <a:rPr lang="nb-NO" sz="2000" dirty="0"/>
              <a:t>A </a:t>
            </a:r>
            <a:r>
              <a:rPr lang="nb-NO" sz="2000" dirty="0" err="1"/>
              <a:t>cell</a:t>
            </a:r>
            <a:r>
              <a:rPr lang="nb-NO" sz="2000" dirty="0"/>
              <a:t> </a:t>
            </a:r>
            <a:r>
              <a:rPr lang="nb-NO" sz="2000" dirty="0" err="1"/>
              <a:t>that</a:t>
            </a:r>
            <a:r>
              <a:rPr lang="nb-NO" sz="2000" dirty="0"/>
              <a:t> is </a:t>
            </a:r>
            <a:r>
              <a:rPr lang="nb-NO" sz="2000" dirty="0" err="1"/>
              <a:t>important</a:t>
            </a:r>
            <a:r>
              <a:rPr lang="nb-NO" sz="2000" dirty="0"/>
              <a:t> to </a:t>
            </a:r>
            <a:r>
              <a:rPr lang="nb-NO" sz="2000" dirty="0" err="1"/>
              <a:t>publish</a:t>
            </a:r>
            <a:r>
              <a:rPr lang="nb-NO" sz="2000" dirty="0"/>
              <a:t> has </a:t>
            </a:r>
            <a:r>
              <a:rPr lang="nb-NO" sz="2000" dirty="0" err="1"/>
              <a:t>been</a:t>
            </a:r>
            <a:r>
              <a:rPr lang="nb-NO" sz="2000" dirty="0"/>
              <a:t> </a:t>
            </a:r>
            <a:r>
              <a:rPr lang="nb-NO" sz="2000" dirty="0" err="1"/>
              <a:t>secondary</a:t>
            </a:r>
            <a:r>
              <a:rPr lang="nb-NO" sz="2000" dirty="0"/>
              <a:t> </a:t>
            </a:r>
            <a:r>
              <a:rPr lang="nb-NO" sz="2000" dirty="0" err="1"/>
              <a:t>suppressed</a:t>
            </a:r>
            <a:r>
              <a:rPr lang="nb-NO" sz="2000" dirty="0"/>
              <a:t>. It is </a:t>
            </a:r>
            <a:r>
              <a:rPr lang="nb-NO" sz="2000" dirty="0" err="1"/>
              <a:t>tempting</a:t>
            </a:r>
            <a:r>
              <a:rPr lang="nb-NO" sz="2000" dirty="0"/>
              <a:t> to </a:t>
            </a:r>
            <a:r>
              <a:rPr lang="nb-NO" sz="2000" dirty="0" err="1"/>
              <a:t>remove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suppression</a:t>
            </a:r>
            <a:r>
              <a:rPr lang="nb-NO" sz="2000" dirty="0"/>
              <a:t> and </a:t>
            </a:r>
            <a:r>
              <a:rPr lang="nb-NO" sz="2000" dirty="0" err="1"/>
              <a:t>choose</a:t>
            </a:r>
            <a:r>
              <a:rPr lang="nb-NO" sz="2000" dirty="0"/>
              <a:t> a different </a:t>
            </a:r>
            <a:r>
              <a:rPr lang="nb-NO" sz="2000" dirty="0" err="1"/>
              <a:t>cell</a:t>
            </a:r>
            <a:r>
              <a:rPr lang="nb-NO" sz="2000" dirty="0"/>
              <a:t> for </a:t>
            </a:r>
            <a:r>
              <a:rPr lang="nb-NO" sz="2000" dirty="0" err="1"/>
              <a:t>secondary</a:t>
            </a:r>
            <a:r>
              <a:rPr lang="nb-NO" sz="2000" dirty="0"/>
              <a:t> </a:t>
            </a:r>
            <a:r>
              <a:rPr lang="nb-NO" sz="2000" dirty="0" err="1"/>
              <a:t>suppression</a:t>
            </a:r>
            <a:r>
              <a:rPr lang="nb-NO" sz="2000" dirty="0"/>
              <a:t>. 		</a:t>
            </a:r>
          </a:p>
          <a:p>
            <a:pPr marL="0" indent="0">
              <a:buNone/>
            </a:pPr>
            <a:r>
              <a:rPr lang="nb-NO" sz="2000" dirty="0"/>
              <a:t>   </a:t>
            </a:r>
            <a:r>
              <a:rPr lang="nb-NO" sz="2000" dirty="0" err="1"/>
              <a:t>Soulution</a:t>
            </a:r>
            <a:r>
              <a:rPr lang="nb-NO" sz="2000" dirty="0"/>
              <a:t>: </a:t>
            </a:r>
            <a:r>
              <a:rPr lang="nb-NO" sz="2000" dirty="0" err="1"/>
              <a:t>rerun</a:t>
            </a:r>
            <a:r>
              <a:rPr lang="nb-NO" sz="2000" dirty="0"/>
              <a:t> </a:t>
            </a:r>
            <a:r>
              <a:rPr lang="nb-NO" sz="2000" dirty="0" err="1"/>
              <a:t>with</a:t>
            </a:r>
            <a:r>
              <a:rPr lang="nb-NO" sz="2000" dirty="0"/>
              <a:t> a different setting.</a:t>
            </a:r>
          </a:p>
        </p:txBody>
      </p:sp>
    </p:spTree>
    <p:extLst>
      <p:ext uri="{BB962C8B-B14F-4D97-AF65-F5344CB8AC3E}">
        <p14:creationId xmlns:p14="http://schemas.microsoft.com/office/powerpoint/2010/main" val="214007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A27B1F1-CA2E-09AF-17FC-4B1A704C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Rules for </a:t>
            </a:r>
            <a:r>
              <a:rPr lang="nb-NO" dirty="0" err="1"/>
              <a:t>frequency</a:t>
            </a:r>
            <a:r>
              <a:rPr lang="nb-NO" dirty="0"/>
              <a:t> </a:t>
            </a:r>
            <a:r>
              <a:rPr lang="nb-NO" dirty="0" err="1"/>
              <a:t>tables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1DA9DB8-4B12-18CA-F6F6-38CDF03B431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120589" indent="0">
              <a:buNone/>
            </a:pP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</a:rPr>
              <a:t>Rule I: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Frequency tables with persons or enterprise as units with frequencies 0, 1 or 2 must be protected…</a:t>
            </a:r>
          </a:p>
          <a:p>
            <a:pPr marL="120589" indent="0">
              <a:buNone/>
            </a:pP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</a:rPr>
              <a:t>…unless a closer assessment indicate a different course of action </a:t>
            </a:r>
          </a:p>
          <a:p>
            <a:pPr marL="577789" indent="-457200"/>
            <a:endParaRPr lang="en-US" sz="20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577789" indent="-457200"/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</a:rPr>
              <a:t>Sensitive data may need a higher threshold (ex: crime, children as units…)</a:t>
            </a:r>
          </a:p>
          <a:p>
            <a:pPr marL="577789" indent="-457200"/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</a:rPr>
              <a:t>If data are already publicly available, no protection is needed</a:t>
            </a:r>
          </a:p>
          <a:p>
            <a:pPr marL="745257" lvl="1" indent="-457200"/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Ex. for enterprise data: NACE, the number of </a:t>
            </a:r>
            <a:r>
              <a:rPr lang="en-US" sz="1400" dirty="0" err="1">
                <a:solidFill>
                  <a:srgbClr val="0D0D0D"/>
                </a:solidFill>
                <a:highlight>
                  <a:srgbClr val="FFFFFF"/>
                </a:highlight>
              </a:rPr>
              <a:t>emploees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,…</a:t>
            </a:r>
          </a:p>
          <a:p>
            <a:pPr marL="577789" indent="-457200"/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</a:rPr>
              <a:t>Structural zeros should not be protected </a:t>
            </a:r>
          </a:p>
          <a:p>
            <a:pPr marL="745257" lvl="1" indent="-457200"/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Ex: </a:t>
            </a:r>
            <a:r>
              <a:rPr lang="nb-NO" sz="1400" dirty="0" err="1">
                <a:highlight>
                  <a:srgbClr val="FFFFFF"/>
                </a:highlight>
              </a:rPr>
              <a:t>the</a:t>
            </a:r>
            <a:r>
              <a:rPr lang="nb-NO" sz="1400" dirty="0">
                <a:highlight>
                  <a:srgbClr val="FFFFFF"/>
                </a:highlight>
              </a:rPr>
              <a:t> </a:t>
            </a:r>
            <a:r>
              <a:rPr lang="nb-NO" sz="1400" dirty="0" err="1">
                <a:highlight>
                  <a:srgbClr val="FFFFFF"/>
                </a:highlight>
              </a:rPr>
              <a:t>number</a:t>
            </a:r>
            <a:r>
              <a:rPr lang="nb-NO" sz="1400" dirty="0">
                <a:highlight>
                  <a:srgbClr val="FFFFFF"/>
                </a:highlight>
              </a:rPr>
              <a:t> </a:t>
            </a:r>
            <a:r>
              <a:rPr lang="nb-NO" sz="1400" dirty="0" err="1">
                <a:highlight>
                  <a:srgbClr val="FFFFFF"/>
                </a:highlight>
              </a:rPr>
              <a:t>of</a:t>
            </a:r>
            <a:r>
              <a:rPr lang="nb-NO" sz="1400" dirty="0">
                <a:highlight>
                  <a:srgbClr val="FFFFFF"/>
                </a:highlight>
              </a:rPr>
              <a:t> pregnant men, </a:t>
            </a:r>
            <a:r>
              <a:rPr lang="nb-NO" sz="1400" dirty="0" err="1">
                <a:highlight>
                  <a:srgbClr val="FFFFFF"/>
                </a:highlight>
              </a:rPr>
              <a:t>the</a:t>
            </a:r>
            <a:r>
              <a:rPr lang="nb-NO" sz="1400" dirty="0">
                <a:highlight>
                  <a:srgbClr val="FFFFFF"/>
                </a:highlight>
              </a:rPr>
              <a:t> </a:t>
            </a:r>
            <a:r>
              <a:rPr lang="nb-NO" sz="1400" dirty="0" err="1">
                <a:highlight>
                  <a:srgbClr val="FFFFFF"/>
                </a:highlight>
              </a:rPr>
              <a:t>number</a:t>
            </a:r>
            <a:r>
              <a:rPr lang="nb-NO" sz="1400" dirty="0">
                <a:highlight>
                  <a:srgbClr val="FFFFFF"/>
                </a:highlight>
              </a:rPr>
              <a:t> </a:t>
            </a:r>
            <a:r>
              <a:rPr lang="nb-NO" sz="1400" dirty="0" err="1">
                <a:highlight>
                  <a:srgbClr val="FFFFFF"/>
                </a:highlight>
              </a:rPr>
              <a:t>of</a:t>
            </a:r>
            <a:r>
              <a:rPr lang="nb-NO" sz="1400" dirty="0">
                <a:highlight>
                  <a:srgbClr val="FFFFFF"/>
                </a:highlight>
              </a:rPr>
              <a:t> </a:t>
            </a:r>
            <a:r>
              <a:rPr lang="nb-NO" sz="1400" dirty="0" err="1">
                <a:highlight>
                  <a:srgbClr val="FFFFFF"/>
                </a:highlight>
              </a:rPr>
              <a:t>children</a:t>
            </a:r>
            <a:r>
              <a:rPr lang="nb-NO" sz="1400" dirty="0">
                <a:highlight>
                  <a:srgbClr val="FFFFFF"/>
                </a:highlight>
              </a:rPr>
              <a:t> </a:t>
            </a:r>
            <a:r>
              <a:rPr lang="nb-NO" sz="1400" dirty="0" err="1">
                <a:highlight>
                  <a:srgbClr val="FFFFFF"/>
                </a:highlight>
              </a:rPr>
              <a:t>with</a:t>
            </a:r>
            <a:r>
              <a:rPr lang="nb-NO" sz="1400" dirty="0">
                <a:highlight>
                  <a:srgbClr val="FFFFFF"/>
                </a:highlight>
              </a:rPr>
              <a:t> Ph.d.</a:t>
            </a:r>
            <a:endParaRPr lang="en-US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577789" indent="-457200"/>
            <a:endParaRPr lang="en-US" sz="20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378075" lvl="2" indent="0">
              <a:buNone/>
            </a:pPr>
            <a:endParaRPr lang="en-US" sz="18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57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C91044-5D67-5F39-AB20-EB20F098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DAF14F-FD6D-2B1A-A856-A0CC776F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Rules for </a:t>
            </a:r>
            <a:r>
              <a:rPr lang="nb-NO" dirty="0" err="1"/>
              <a:t>frequency</a:t>
            </a:r>
            <a:r>
              <a:rPr lang="nb-NO" dirty="0"/>
              <a:t> </a:t>
            </a:r>
            <a:r>
              <a:rPr lang="nb-NO" dirty="0" err="1"/>
              <a:t>tables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8D8796B-EEC3-5641-A572-3DEE4D0D49D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84582" indent="0">
              <a:buNone/>
            </a:pP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</a:rPr>
              <a:t>Rule II: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If not coved by other rules or guidelines, all tables should at a minimum be protected using one of the following methods: </a:t>
            </a:r>
          </a:p>
          <a:p>
            <a:pPr marL="594950" lvl="1" indent="-342900"/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</a:rPr>
              <a:t>Aggregate categories to avoid cells with small frequencies</a:t>
            </a:r>
          </a:p>
          <a:p>
            <a:pPr marL="594950" lvl="1" indent="-342900"/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</a:rPr>
              <a:t>Protect table by applying primary suppression of small frequencies</a:t>
            </a:r>
          </a:p>
          <a:p>
            <a:pPr marL="594950" lvl="1" indent="-342900"/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</a:rPr>
              <a:t>Protect table by applying rounding or perturbation </a:t>
            </a:r>
            <a:r>
              <a:rPr lang="nb-NO" sz="2000" dirty="0">
                <a:highlight>
                  <a:srgbClr val="FFFFFF"/>
                </a:highlight>
              </a:rPr>
              <a:t>so </a:t>
            </a:r>
            <a:r>
              <a:rPr lang="nb-NO" sz="2000" dirty="0" err="1">
                <a:highlight>
                  <a:srgbClr val="FFFFFF"/>
                </a:highlight>
              </a:rPr>
              <a:t>that</a:t>
            </a:r>
            <a:r>
              <a:rPr lang="nb-NO" sz="2000" dirty="0">
                <a:highlight>
                  <a:srgbClr val="FFFFFF"/>
                </a:highlight>
              </a:rPr>
              <a:t> </a:t>
            </a:r>
            <a:r>
              <a:rPr lang="nb-NO" sz="2000" dirty="0" err="1">
                <a:highlight>
                  <a:srgbClr val="FFFFFF"/>
                </a:highlight>
              </a:rPr>
              <a:t>some</a:t>
            </a:r>
            <a:r>
              <a:rPr lang="nb-NO" sz="2000" dirty="0">
                <a:highlight>
                  <a:srgbClr val="FFFFFF"/>
                </a:highlight>
              </a:rPr>
              <a:t> non-zero </a:t>
            </a:r>
            <a:r>
              <a:rPr lang="nb-NO" sz="2000" dirty="0" err="1">
                <a:highlight>
                  <a:srgbClr val="FFFFFF"/>
                </a:highlight>
              </a:rPr>
              <a:t>values</a:t>
            </a:r>
            <a:r>
              <a:rPr lang="nb-NO" sz="2000" dirty="0">
                <a:highlight>
                  <a:srgbClr val="FFFFFF"/>
                </a:highlight>
              </a:rPr>
              <a:t> </a:t>
            </a:r>
            <a:r>
              <a:rPr lang="nb-NO" sz="2000" dirty="0" err="1">
                <a:highlight>
                  <a:srgbClr val="FFFFFF"/>
                </a:highlight>
              </a:rPr>
              <a:t>become</a:t>
            </a:r>
            <a:r>
              <a:rPr lang="nb-NO" sz="2000" dirty="0">
                <a:highlight>
                  <a:srgbClr val="FFFFFF"/>
                </a:highlight>
              </a:rPr>
              <a:t> zero.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844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51511D-2122-771A-11A9-5D16A754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738" y="1016962"/>
            <a:ext cx="9651619" cy="1311128"/>
          </a:xfrm>
        </p:spPr>
        <p:txBody>
          <a:bodyPr>
            <a:normAutofit/>
          </a:bodyPr>
          <a:lstStyle/>
          <a:p>
            <a:r>
              <a:rPr lang="nb-NO" dirty="0" err="1"/>
              <a:t>Rule</a:t>
            </a:r>
            <a:r>
              <a:rPr lang="nb-NO" dirty="0"/>
              <a:t> for d</a:t>
            </a:r>
            <a:r>
              <a:rPr lang="en-US" dirty="0" err="1">
                <a:highlight>
                  <a:srgbClr val="FFFFFF"/>
                </a:highlight>
              </a:rPr>
              <a:t>ominance</a:t>
            </a:r>
            <a:r>
              <a:rPr lang="en-US" dirty="0">
                <a:highlight>
                  <a:srgbClr val="FFFFFF"/>
                </a:highlight>
              </a:rPr>
              <a:t> thresholds</a:t>
            </a:r>
            <a:br>
              <a:rPr lang="en-US" dirty="0"/>
            </a:b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29DEDC4-B9F5-BED0-179C-6856C06D43C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70190" y="2328090"/>
            <a:ext cx="9651619" cy="397886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highlight>
                  <a:srgbClr val="FFFFFF"/>
                </a:highlight>
              </a:rPr>
              <a:t>Rule: </a:t>
            </a:r>
            <a:r>
              <a:rPr lang="en-US" dirty="0">
                <a:highlight>
                  <a:srgbClr val="FFFFFF"/>
                </a:highlight>
              </a:rPr>
              <a:t>Thresholds of the dominance rule should be treated as confidential information.</a:t>
            </a:r>
          </a:p>
          <a:p>
            <a:pPr lvl="1"/>
            <a:r>
              <a:rPr lang="en-US" sz="2000" dirty="0">
                <a:highlight>
                  <a:srgbClr val="FFFFFF"/>
                </a:highlight>
              </a:rPr>
              <a:t>The thresholds must not be published or shared externally (including public code repositories, explanatory notes, or emails).</a:t>
            </a:r>
          </a:p>
          <a:p>
            <a:pPr lvl="1"/>
            <a:r>
              <a:rPr lang="en-US" sz="2000" u="sng" dirty="0">
                <a:highlight>
                  <a:srgbClr val="FFFFFF"/>
                </a:highlight>
              </a:rPr>
              <a:t>Reason: </a:t>
            </a:r>
            <a:r>
              <a:rPr lang="en-US" sz="2000" dirty="0">
                <a:highlight>
                  <a:srgbClr val="FFFFFF"/>
                </a:highlight>
              </a:rPr>
              <a:t>If parameters are known, they could reveal a more precise contributions of units. </a:t>
            </a:r>
          </a:p>
          <a:p>
            <a:pPr marL="709250" lvl="1" indent="-457200">
              <a:buFont typeface="+mj-lt"/>
              <a:buAutoNum type="arabicPeriod"/>
            </a:pPr>
            <a:endParaRPr lang="en-US" sz="2000" dirty="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1213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BB8F7F8-60AB-3E16-BB20-67D17D93F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190" y="2542686"/>
            <a:ext cx="9651619" cy="1311128"/>
          </a:xfrm>
        </p:spPr>
        <p:txBody>
          <a:bodyPr/>
          <a:lstStyle/>
          <a:p>
            <a:pPr algn="ctr"/>
            <a:r>
              <a:rPr lang="nb-NO" dirty="0"/>
              <a:t>How </a:t>
            </a:r>
            <a:r>
              <a:rPr lang="nb-NO" dirty="0" err="1"/>
              <a:t>work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SDC is </a:t>
            </a:r>
            <a:r>
              <a:rPr lang="nb-NO" dirty="0" err="1"/>
              <a:t>organized</a:t>
            </a:r>
            <a:r>
              <a:rPr lang="nb-NO" dirty="0"/>
              <a:t> at </a:t>
            </a:r>
            <a:r>
              <a:rPr lang="nb-NO" dirty="0" err="1"/>
              <a:t>Statistics</a:t>
            </a:r>
            <a:r>
              <a:rPr lang="nb-NO" dirty="0"/>
              <a:t> Norway</a:t>
            </a:r>
          </a:p>
        </p:txBody>
      </p:sp>
    </p:spTree>
    <p:extLst>
      <p:ext uri="{BB962C8B-B14F-4D97-AF65-F5344CB8AC3E}">
        <p14:creationId xmlns:p14="http://schemas.microsoft.com/office/powerpoint/2010/main" val="2544416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689B366A-0FA1-501C-5767-300C27E7E739}"/>
              </a:ext>
            </a:extLst>
          </p:cNvPr>
          <p:cNvSpPr/>
          <p:nvPr/>
        </p:nvSpPr>
        <p:spPr>
          <a:xfrm>
            <a:off x="0" y="3391392"/>
            <a:ext cx="12191586" cy="1531081"/>
          </a:xfrm>
          <a:prstGeom prst="rect">
            <a:avLst/>
          </a:prstGeom>
          <a:solidFill>
            <a:srgbClr val="00B0F0">
              <a:alpha val="1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3C9983E-89B6-4528-ABB6-771073DD871F}"/>
              </a:ext>
            </a:extLst>
          </p:cNvPr>
          <p:cNvSpPr/>
          <p:nvPr/>
        </p:nvSpPr>
        <p:spPr>
          <a:xfrm>
            <a:off x="4541467" y="4938009"/>
            <a:ext cx="2459115" cy="683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 err="1"/>
              <a:t>Statistics</a:t>
            </a:r>
            <a:endParaRPr lang="nb-NO" sz="2800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C78C9F5-7943-497F-A894-C5E2BFEFE167}"/>
              </a:ext>
            </a:extLst>
          </p:cNvPr>
          <p:cNvSpPr/>
          <p:nvPr/>
        </p:nvSpPr>
        <p:spPr>
          <a:xfrm>
            <a:off x="9338477" y="4912486"/>
            <a:ext cx="2459114" cy="734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 err="1"/>
              <a:t>Methodological</a:t>
            </a:r>
            <a:r>
              <a:rPr lang="nb-NO" sz="2400" dirty="0"/>
              <a:t> 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A769FC7E-3411-4103-8FB4-08FB6150700B}"/>
              </a:ext>
            </a:extLst>
          </p:cNvPr>
          <p:cNvSpPr/>
          <p:nvPr/>
        </p:nvSpPr>
        <p:spPr>
          <a:xfrm>
            <a:off x="251425" y="4933570"/>
            <a:ext cx="2192784" cy="734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Law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1ADD3B66-C340-48EE-A5B8-FDDE983EFBFE}"/>
              </a:ext>
            </a:extLst>
          </p:cNvPr>
          <p:cNvSpPr txBox="1"/>
          <p:nvPr/>
        </p:nvSpPr>
        <p:spPr>
          <a:xfrm>
            <a:off x="2870129" y="2544859"/>
            <a:ext cx="1704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 err="1"/>
              <a:t>Unsolved</a:t>
            </a:r>
            <a:r>
              <a:rPr lang="nb-NO" sz="2400" dirty="0"/>
              <a:t> problem</a:t>
            </a: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2700BBB2-DFA6-41FC-A03C-90CBC570D44F}"/>
              </a:ext>
            </a:extLst>
          </p:cNvPr>
          <p:cNvSpPr/>
          <p:nvPr/>
        </p:nvSpPr>
        <p:spPr>
          <a:xfrm>
            <a:off x="4615031" y="2520435"/>
            <a:ext cx="2459113" cy="1262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/>
              <a:t>SDC </a:t>
            </a:r>
            <a:r>
              <a:rPr lang="nb-NO" sz="2400" dirty="0" err="1"/>
              <a:t>committee</a:t>
            </a:r>
            <a:endParaRPr lang="nb-NO" sz="2400" dirty="0"/>
          </a:p>
          <a:p>
            <a:pPr algn="ctr"/>
            <a:r>
              <a:rPr lang="nb-NO" sz="2400" dirty="0"/>
              <a:t>+ </a:t>
            </a:r>
            <a:r>
              <a:rPr lang="nb-NO" sz="2400" dirty="0" err="1"/>
              <a:t>secretary</a:t>
            </a:r>
            <a:endParaRPr lang="nb-NO" sz="2400" dirty="0"/>
          </a:p>
        </p:txBody>
      </p: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567145E6-1ADF-400D-9F50-E1E553938AAD}"/>
              </a:ext>
            </a:extLst>
          </p:cNvPr>
          <p:cNvSpPr txBox="1"/>
          <p:nvPr/>
        </p:nvSpPr>
        <p:spPr>
          <a:xfrm>
            <a:off x="3933181" y="1781233"/>
            <a:ext cx="161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 err="1"/>
              <a:t>Decision</a:t>
            </a:r>
            <a:endParaRPr lang="nb-NO" sz="2400" dirty="0"/>
          </a:p>
        </p:txBody>
      </p:sp>
      <p:cxnSp>
        <p:nvCxnSpPr>
          <p:cNvPr id="42" name="Rett pilkobling 41">
            <a:extLst>
              <a:ext uri="{FF2B5EF4-FFF2-40B4-BE49-F238E27FC236}">
                <a16:creationId xmlns:a16="http://schemas.microsoft.com/office/drawing/2014/main" id="{A170A774-E929-40AA-9679-3575BDB274C1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flipV="1">
            <a:off x="5844588" y="1254505"/>
            <a:ext cx="0" cy="126593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Rett pilkobling 42">
            <a:extLst>
              <a:ext uri="{FF2B5EF4-FFF2-40B4-BE49-F238E27FC236}">
                <a16:creationId xmlns:a16="http://schemas.microsoft.com/office/drawing/2014/main" id="{79849EFC-4F3B-448E-A447-C44D3A96A990}"/>
              </a:ext>
            </a:extLst>
          </p:cNvPr>
          <p:cNvCxnSpPr>
            <a:cxnSpLocks/>
          </p:cNvCxnSpPr>
          <p:nvPr/>
        </p:nvCxnSpPr>
        <p:spPr>
          <a:xfrm>
            <a:off x="5543466" y="1442190"/>
            <a:ext cx="0" cy="102769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Rett pilkobling 43">
            <a:extLst>
              <a:ext uri="{FF2B5EF4-FFF2-40B4-BE49-F238E27FC236}">
                <a16:creationId xmlns:a16="http://schemas.microsoft.com/office/drawing/2014/main" id="{8273AD36-0CA6-4A95-A63F-61EEC82C4DF5}"/>
              </a:ext>
            </a:extLst>
          </p:cNvPr>
          <p:cNvCxnSpPr/>
          <p:nvPr/>
        </p:nvCxnSpPr>
        <p:spPr>
          <a:xfrm flipV="1">
            <a:off x="2097334" y="3438664"/>
            <a:ext cx="2436920" cy="149712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ett pilkobling 44">
            <a:extLst>
              <a:ext uri="{FF2B5EF4-FFF2-40B4-BE49-F238E27FC236}">
                <a16:creationId xmlns:a16="http://schemas.microsoft.com/office/drawing/2014/main" id="{B086DA01-771F-47A3-8E83-D86CE3201F8E}"/>
              </a:ext>
            </a:extLst>
          </p:cNvPr>
          <p:cNvCxnSpPr>
            <a:cxnSpLocks/>
          </p:cNvCxnSpPr>
          <p:nvPr/>
        </p:nvCxnSpPr>
        <p:spPr>
          <a:xfrm flipH="1" flipV="1">
            <a:off x="7108751" y="3466608"/>
            <a:ext cx="2637684" cy="147972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ett pilkobling 45">
            <a:extLst>
              <a:ext uri="{FF2B5EF4-FFF2-40B4-BE49-F238E27FC236}">
                <a16:creationId xmlns:a16="http://schemas.microsoft.com/office/drawing/2014/main" id="{513EACF7-889B-411A-B380-4E3DD477948A}"/>
              </a:ext>
            </a:extLst>
          </p:cNvPr>
          <p:cNvCxnSpPr/>
          <p:nvPr/>
        </p:nvCxnSpPr>
        <p:spPr>
          <a:xfrm flipV="1">
            <a:off x="2911876" y="4149986"/>
            <a:ext cx="2436920" cy="1497127"/>
          </a:xfrm>
          <a:prstGeom prst="straightConnector1">
            <a:avLst/>
          </a:prstGeom>
          <a:ln w="5715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kstSylinder 46">
            <a:extLst>
              <a:ext uri="{FF2B5EF4-FFF2-40B4-BE49-F238E27FC236}">
                <a16:creationId xmlns:a16="http://schemas.microsoft.com/office/drawing/2014/main" id="{DCC792A8-2035-4146-B3AD-2EA71C416256}"/>
              </a:ext>
            </a:extLst>
          </p:cNvPr>
          <p:cNvSpPr txBox="1"/>
          <p:nvPr/>
        </p:nvSpPr>
        <p:spPr>
          <a:xfrm>
            <a:off x="6077441" y="1781233"/>
            <a:ext cx="167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 err="1"/>
              <a:t>Proposal</a:t>
            </a:r>
            <a:endParaRPr lang="nb-NO" sz="2400" dirty="0"/>
          </a:p>
        </p:txBody>
      </p:sp>
      <p:sp>
        <p:nvSpPr>
          <p:cNvPr id="48" name="TekstSylinder 47">
            <a:extLst>
              <a:ext uri="{FF2B5EF4-FFF2-40B4-BE49-F238E27FC236}">
                <a16:creationId xmlns:a16="http://schemas.microsoft.com/office/drawing/2014/main" id="{9108A86F-2AF4-4CA5-BBBF-60451879ADA7}"/>
              </a:ext>
            </a:extLst>
          </p:cNvPr>
          <p:cNvSpPr txBox="1"/>
          <p:nvPr/>
        </p:nvSpPr>
        <p:spPr>
          <a:xfrm>
            <a:off x="114496" y="3622083"/>
            <a:ext cx="2329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dirty="0"/>
              <a:t>Information </a:t>
            </a:r>
          </a:p>
          <a:p>
            <a:pPr algn="ctr"/>
            <a:r>
              <a:rPr lang="nb-NO" sz="2400" dirty="0"/>
              <a:t>&amp; </a:t>
            </a:r>
          </a:p>
          <a:p>
            <a:pPr algn="ctr"/>
            <a:r>
              <a:rPr lang="nb-NO" sz="2400" dirty="0" err="1"/>
              <a:t>knowlegde</a:t>
            </a:r>
            <a:endParaRPr lang="nb-NO" sz="2400" dirty="0"/>
          </a:p>
        </p:txBody>
      </p:sp>
      <p:cxnSp>
        <p:nvCxnSpPr>
          <p:cNvPr id="54" name="Kobling: buet 53">
            <a:extLst>
              <a:ext uri="{FF2B5EF4-FFF2-40B4-BE49-F238E27FC236}">
                <a16:creationId xmlns:a16="http://schemas.microsoft.com/office/drawing/2014/main" id="{B7AFBF8C-2E95-46F3-B2D2-F74B22357AED}"/>
              </a:ext>
            </a:extLst>
          </p:cNvPr>
          <p:cNvCxnSpPr>
            <a:cxnSpLocks/>
            <a:stCxn id="5" idx="2"/>
            <a:endCxn id="4" idx="2"/>
          </p:cNvCxnSpPr>
          <p:nvPr/>
        </p:nvCxnSpPr>
        <p:spPr>
          <a:xfrm rot="5400000" flipH="1">
            <a:off x="8156768" y="3235847"/>
            <a:ext cx="25524" cy="4797009"/>
          </a:xfrm>
          <a:prstGeom prst="curvedConnector3">
            <a:avLst>
              <a:gd name="adj1" fmla="val -2416976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kstSylinder 55">
            <a:extLst>
              <a:ext uri="{FF2B5EF4-FFF2-40B4-BE49-F238E27FC236}">
                <a16:creationId xmlns:a16="http://schemas.microsoft.com/office/drawing/2014/main" id="{62D7B81F-8A4A-4608-8851-02587DC6BC7B}"/>
              </a:ext>
            </a:extLst>
          </p:cNvPr>
          <p:cNvSpPr txBox="1"/>
          <p:nvPr/>
        </p:nvSpPr>
        <p:spPr>
          <a:xfrm>
            <a:off x="6925720" y="6357110"/>
            <a:ext cx="257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 err="1"/>
              <a:t>Implementation</a:t>
            </a:r>
            <a:endParaRPr lang="nb-NO" sz="2400" dirty="0"/>
          </a:p>
        </p:txBody>
      </p:sp>
      <p:cxnSp>
        <p:nvCxnSpPr>
          <p:cNvPr id="68" name="Rett pilkobling 67">
            <a:extLst>
              <a:ext uri="{FF2B5EF4-FFF2-40B4-BE49-F238E27FC236}">
                <a16:creationId xmlns:a16="http://schemas.microsoft.com/office/drawing/2014/main" id="{3068EC04-F24C-450E-B2AC-BCBC1E500ED4}"/>
              </a:ext>
            </a:extLst>
          </p:cNvPr>
          <p:cNvCxnSpPr>
            <a:cxnSpLocks/>
          </p:cNvCxnSpPr>
          <p:nvPr/>
        </p:nvCxnSpPr>
        <p:spPr>
          <a:xfrm flipH="1" flipV="1">
            <a:off x="5756519" y="3838355"/>
            <a:ext cx="207" cy="107599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ktangel 20">
            <a:extLst>
              <a:ext uri="{FF2B5EF4-FFF2-40B4-BE49-F238E27FC236}">
                <a16:creationId xmlns:a16="http://schemas.microsoft.com/office/drawing/2014/main" id="{1176E44A-D222-293F-D80C-4028E1CAF045}"/>
              </a:ext>
            </a:extLst>
          </p:cNvPr>
          <p:cNvSpPr/>
          <p:nvPr/>
        </p:nvSpPr>
        <p:spPr>
          <a:xfrm>
            <a:off x="4615031" y="431957"/>
            <a:ext cx="2459113" cy="822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/>
              <a:t>Directors </a:t>
            </a:r>
            <a:r>
              <a:rPr lang="nb-NO" sz="2400" dirty="0" err="1"/>
              <a:t>meeting</a:t>
            </a:r>
            <a:endParaRPr lang="nb-NO" sz="2400" dirty="0"/>
          </a:p>
        </p:txBody>
      </p:sp>
      <p:cxnSp>
        <p:nvCxnSpPr>
          <p:cNvPr id="12" name="Rett pilkobling 11">
            <a:extLst>
              <a:ext uri="{FF2B5EF4-FFF2-40B4-BE49-F238E27FC236}">
                <a16:creationId xmlns:a16="http://schemas.microsoft.com/office/drawing/2014/main" id="{92387EC7-9B09-CCA3-7E4C-B9576D3EAF7E}"/>
              </a:ext>
            </a:extLst>
          </p:cNvPr>
          <p:cNvCxnSpPr>
            <a:cxnSpLocks/>
          </p:cNvCxnSpPr>
          <p:nvPr/>
        </p:nvCxnSpPr>
        <p:spPr>
          <a:xfrm>
            <a:off x="5512933" y="3838355"/>
            <a:ext cx="0" cy="102769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EDE57B85-6D70-9910-D514-15F2AF8F81E2}"/>
              </a:ext>
            </a:extLst>
          </p:cNvPr>
          <p:cNvSpPr txBox="1"/>
          <p:nvPr/>
        </p:nvSpPr>
        <p:spPr>
          <a:xfrm>
            <a:off x="176058" y="236041"/>
            <a:ext cx="4772416" cy="1141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nb-NO" sz="2400" dirty="0"/>
              <a:t>Meeting </a:t>
            </a:r>
            <a:r>
              <a:rPr lang="nb-NO" sz="2400" dirty="0" err="1"/>
              <a:t>point</a:t>
            </a:r>
            <a:endParaRPr lang="nb-NO" sz="2400" dirty="0"/>
          </a:p>
          <a:p>
            <a:pPr marL="34290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nb-NO" sz="2400" dirty="0" err="1"/>
              <a:t>Insitutional</a:t>
            </a:r>
            <a:r>
              <a:rPr lang="nb-NO" sz="2400" dirty="0"/>
              <a:t> guidelines</a:t>
            </a:r>
          </a:p>
        </p:txBody>
      </p:sp>
    </p:spTree>
    <p:extLst>
      <p:ext uri="{BB962C8B-B14F-4D97-AF65-F5344CB8AC3E}">
        <p14:creationId xmlns:p14="http://schemas.microsoft.com/office/powerpoint/2010/main" val="3317170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5" grpId="0" animBg="1"/>
      <p:bldP spid="6" grpId="0" animBg="1"/>
      <p:bldP spid="11" grpId="0"/>
      <p:bldP spid="24" grpId="0"/>
      <p:bldP spid="47" grpId="0"/>
      <p:bldP spid="48" grpId="0"/>
      <p:bldP spid="56" grpId="0"/>
      <p:bldP spid="21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768B9E9-952A-3F4E-5535-EE48ACD6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SDC </a:t>
            </a:r>
            <a:r>
              <a:rPr lang="nb-NO" dirty="0" err="1"/>
              <a:t>committee</a:t>
            </a:r>
            <a:r>
              <a:rPr lang="nb-NO" dirty="0"/>
              <a:t>: </a:t>
            </a:r>
            <a:r>
              <a:rPr lang="nb-NO" dirty="0" err="1"/>
              <a:t>main</a:t>
            </a:r>
            <a:r>
              <a:rPr lang="nb-NO" dirty="0"/>
              <a:t> </a:t>
            </a:r>
            <a:r>
              <a:rPr lang="nb-NO" dirty="0" err="1"/>
              <a:t>tasks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2EB90D4-F181-F990-BC39-83B7A26CAB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19358" y="2563634"/>
            <a:ext cx="9651619" cy="3978862"/>
          </a:xfrm>
        </p:spPr>
        <p:txBody>
          <a:bodyPr/>
          <a:lstStyle/>
          <a:p>
            <a:pPr fontAlgn="base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Propose general rules and guidelines that are easy to implement</a:t>
            </a:r>
          </a:p>
          <a:p>
            <a:pPr fontAlgn="base">
              <a:lnSpc>
                <a:spcPct val="100000"/>
              </a:lnSpc>
            </a:pPr>
            <a:endParaRPr lang="en-US" dirty="0">
              <a:solidFill>
                <a:srgbClr val="000000"/>
              </a:solidFill>
            </a:endParaRPr>
          </a:p>
          <a:p>
            <a:pPr fontAlgn="base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Propose </a:t>
            </a:r>
            <a:r>
              <a:rPr lang="en-US" dirty="0" err="1">
                <a:solidFill>
                  <a:srgbClr val="000000"/>
                </a:solidFill>
              </a:rPr>
              <a:t>recommandations</a:t>
            </a:r>
            <a:r>
              <a:rPr lang="en-US" dirty="0">
                <a:solidFill>
                  <a:srgbClr val="000000"/>
                </a:solidFill>
              </a:rPr>
              <a:t> for good practice   </a:t>
            </a:r>
          </a:p>
          <a:p>
            <a:pPr fontAlgn="base">
              <a:lnSpc>
                <a:spcPct val="100000"/>
              </a:lnSpc>
            </a:pPr>
            <a:endParaRPr lang="en-US" dirty="0">
              <a:solidFill>
                <a:srgbClr val="000000"/>
              </a:solidFill>
            </a:endParaRPr>
          </a:p>
          <a:p>
            <a:pPr fontAlgn="base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Give advice on individual cases of principal character</a:t>
            </a:r>
          </a:p>
        </p:txBody>
      </p:sp>
    </p:spTree>
    <p:extLst>
      <p:ext uri="{BB962C8B-B14F-4D97-AF65-F5344CB8AC3E}">
        <p14:creationId xmlns:p14="http://schemas.microsoft.com/office/powerpoint/2010/main" val="95379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/>
              <a:t>Thank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48054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SSB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A9D49"/>
      </a:accent1>
      <a:accent2>
        <a:srgbClr val="274247"/>
      </a:accent2>
      <a:accent3>
        <a:srgbClr val="9582BB"/>
      </a:accent3>
      <a:accent4>
        <a:srgbClr val="3396D2"/>
      </a:accent4>
      <a:accent5>
        <a:srgbClr val="D2BC2A"/>
      </a:accent5>
      <a:accent6>
        <a:srgbClr val="8CA9AA"/>
      </a:accent6>
      <a:hlink>
        <a:srgbClr val="0563C1"/>
      </a:hlink>
      <a:folHlink>
        <a:srgbClr val="954F72"/>
      </a:folHlink>
    </a:clrScheme>
    <a:fontScheme name="SSB">
      <a:majorFont>
        <a:latin typeface="Roboto Condensed"/>
        <a:ea typeface=""/>
        <a:cs typeface=""/>
      </a:majorFont>
      <a:minorFont>
        <a:latin typeface="Open Sans"/>
        <a:ea typeface=""/>
        <a:cs typeface="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bmal_2018.potx" id="{27830765-609B-40A7-BB85-0ABEDBC2E87E}" vid="{F965F0D8-9B15-47DC-9966-C4B99B4DF52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14C7EF7DA17C4C842950F82EA203DF" ma:contentTypeVersion="7" ma:contentTypeDescription="Create a new document." ma:contentTypeScope="" ma:versionID="3aa4873081dd2e098511f287a3ae1412">
  <xsd:schema xmlns:xsd="http://www.w3.org/2001/XMLSchema" xmlns:xs="http://www.w3.org/2001/XMLSchema" xmlns:p="http://schemas.microsoft.com/office/2006/metadata/properties" xmlns:ns2="74da3df6-f4aa-478a-a5d8-aa90ad35bd94" xmlns:ns3="2bf0940c-1ce9-4c89-931e-efbf8864587d" targetNamespace="http://schemas.microsoft.com/office/2006/metadata/properties" ma:root="true" ma:fieldsID="1fb1b4c73b136ba6c27ea1011c2e20fb" ns2:_="" ns3:_="">
    <xsd:import namespace="74da3df6-f4aa-478a-a5d8-aa90ad35bd94"/>
    <xsd:import namespace="2bf0940c-1ce9-4c89-931e-efbf886458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a3df6-f4aa-478a-a5d8-aa90ad35bd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f0940c-1ce9-4c89-931e-efbf8864587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F5E8AB-3EE2-4CB1-8355-A1638E40C7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a3df6-f4aa-478a-a5d8-aa90ad35bd94"/>
    <ds:schemaRef ds:uri="2bf0940c-1ce9-4c89-931e-efbf886458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5B21A6-4BC1-49F8-B567-7F7CF8B881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C60F9C-C20B-4526-AA17-F705D3E3B420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2bf0940c-1ce9-4c89-931e-efbf8864587d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4da3df6-f4aa-478a-a5d8-aa90ad35bd9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ssbmal_2018</Template>
  <TotalTime>12662</TotalTime>
  <Words>676</Words>
  <Application>Microsoft Office PowerPoint</Application>
  <PresentationFormat>Widescreen</PresentationFormat>
  <Paragraphs>91</Paragraphs>
  <Slides>13</Slides>
  <Notes>7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13</vt:i4>
      </vt:variant>
    </vt:vector>
  </HeadingPairs>
  <TitlesOfParts>
    <vt:vector size="19" baseType="lpstr">
      <vt:lpstr>Aptos</vt:lpstr>
      <vt:lpstr>Roboto Condensed</vt:lpstr>
      <vt:lpstr>Wingdings</vt:lpstr>
      <vt:lpstr>Arial</vt:lpstr>
      <vt:lpstr>Open Sans</vt:lpstr>
      <vt:lpstr>Office-tema</vt:lpstr>
      <vt:lpstr>SSB's policies, rules and guidelines related to table protection</vt:lpstr>
      <vt:lpstr>Statistics Norway’s policies, rules and guidelines related to table protection</vt:lpstr>
      <vt:lpstr>Rules at Statistics Norway for table protection</vt:lpstr>
      <vt:lpstr>General rules for suppression </vt:lpstr>
      <vt:lpstr>General rules for suppression</vt:lpstr>
      <vt:lpstr>General rules for suppression</vt:lpstr>
      <vt:lpstr>Rules for frequency tables</vt:lpstr>
      <vt:lpstr>Rules for frequency tables</vt:lpstr>
      <vt:lpstr>Rule for dominance thresholds </vt:lpstr>
      <vt:lpstr>How work with SDC is organized at Statistics Norway</vt:lpstr>
      <vt:lpstr>PowerPoint-presentasjon</vt:lpstr>
      <vt:lpstr>SDC committee: main tasks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Bøvelstad, Hege Marie</dc:creator>
  <cp:lastModifiedBy>Bøvelstad, Hege Marie</cp:lastModifiedBy>
  <cp:revision>1</cp:revision>
  <dcterms:created xsi:type="dcterms:W3CDTF">2025-11-06T15:03:55Z</dcterms:created>
  <dcterms:modified xsi:type="dcterms:W3CDTF">2025-11-19T08:57:22Z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bb1e25a-de7b-40d6-a859-76fe2317f0af_Enabled">
    <vt:lpwstr>True</vt:lpwstr>
  </property>
  <property fmtid="{D5CDD505-2E9C-101B-9397-08002B2CF9AE}" pid="3" name="MSIP_Label_ebb1e25a-de7b-40d6-a859-76fe2317f0af_SiteId">
    <vt:lpwstr>c7217092-b240-4e1d-bd61-fa97ba975cbc</vt:lpwstr>
  </property>
  <property fmtid="{D5CDD505-2E9C-101B-9397-08002B2CF9AE}" pid="4" name="MSIP_Label_ebb1e25a-de7b-40d6-a859-76fe2317f0af_Owner">
    <vt:lpwstr>thb@ssb.no</vt:lpwstr>
  </property>
  <property fmtid="{D5CDD505-2E9C-101B-9397-08002B2CF9AE}" pid="5" name="MSIP_Label_ebb1e25a-de7b-40d6-a859-76fe2317f0af_SetDate">
    <vt:lpwstr>2019-01-10T08:15:32.1166307Z</vt:lpwstr>
  </property>
  <property fmtid="{D5CDD505-2E9C-101B-9397-08002B2CF9AE}" pid="6" name="MSIP_Label_ebb1e25a-de7b-40d6-a859-76fe2317f0af_Name">
    <vt:lpwstr>Åpent</vt:lpwstr>
  </property>
  <property fmtid="{D5CDD505-2E9C-101B-9397-08002B2CF9AE}" pid="7" name="MSIP_Label_ebb1e25a-de7b-40d6-a859-76fe2317f0af_Application">
    <vt:lpwstr>Microsoft Azure Information Protection</vt:lpwstr>
  </property>
  <property fmtid="{D5CDD505-2E9C-101B-9397-08002B2CF9AE}" pid="8" name="MSIP_Label_ebb1e25a-de7b-40d6-a859-76fe2317f0af_Extended_MSFT_Method">
    <vt:lpwstr>Automatic</vt:lpwstr>
  </property>
  <property fmtid="{D5CDD505-2E9C-101B-9397-08002B2CF9AE}" pid="9" name="Sensitivity">
    <vt:lpwstr>Åpent</vt:lpwstr>
  </property>
  <property fmtid="{D5CDD505-2E9C-101B-9397-08002B2CF9AE}" pid="10" name="ContentTypeId">
    <vt:lpwstr>0x0101006014C7EF7DA17C4C842950F82EA203DF</vt:lpwstr>
  </property>
</Properties>
</file>